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83" r:id="rId5"/>
    <p:sldId id="275" r:id="rId6"/>
    <p:sldId id="277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6" y="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260</a:t>
            </a:r>
            <a:r>
              <a:rPr lang="en-US" altLang="ko" dirty="0"/>
              <a:t>408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정준호 교수님 개별연구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2020112008 이웅희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주제: 특정 사무프로세스 자동화를 위한 주요모듈 및 UI/UX개선연구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지난 발표 주요 내용 정리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-KR" altLang="en-US" dirty="0"/>
              <a:t>서비스 로직 일부 구현된 형태의 </a:t>
            </a:r>
            <a:r>
              <a:rPr lang="ko-KR" altLang="en-US" dirty="0" err="1"/>
              <a:t>목업</a:t>
            </a:r>
            <a:r>
              <a:rPr lang="en-US" altLang="ko-KR" dirty="0"/>
              <a:t>UI </a:t>
            </a:r>
            <a:r>
              <a:rPr lang="ko-KR" altLang="en-US" dirty="0"/>
              <a:t>소개 진행</a:t>
            </a:r>
            <a:endParaRPr lang="en-US" altLang="ko-KR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-KR" altLang="en-US" dirty="0"/>
              <a:t>방향성에 대한 확인 후</a:t>
            </a:r>
            <a:r>
              <a:rPr lang="en-US" altLang="ko-KR" dirty="0"/>
              <a:t>, </a:t>
            </a:r>
            <a:r>
              <a:rPr lang="ko-KR" altLang="en-US" dirty="0"/>
              <a:t>금주부터 중간보고</a:t>
            </a:r>
            <a:r>
              <a:rPr lang="en-US" altLang="ko-KR" dirty="0"/>
              <a:t>(04.21 </a:t>
            </a:r>
            <a:r>
              <a:rPr lang="ko-KR" altLang="en-US" dirty="0"/>
              <a:t>이후 진행예정</a:t>
            </a:r>
            <a:r>
              <a:rPr lang="en-US" altLang="ko-KR" dirty="0"/>
              <a:t>) </a:t>
            </a:r>
            <a:r>
              <a:rPr lang="ko-KR" altLang="en-US" dirty="0"/>
              <a:t>전까지 서면보고 진행</a:t>
            </a:r>
            <a:endParaRPr lang="en-US" altLang="ko-KR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-KR" altLang="en-US" dirty="0"/>
              <a:t>지난주 발표 기준으로 구현되었던 내용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로그인</a:t>
            </a:r>
            <a:r>
              <a:rPr lang="en-US" altLang="ko-KR" dirty="0"/>
              <a:t> </a:t>
            </a:r>
            <a:r>
              <a:rPr lang="ko-KR" altLang="en-US" dirty="0"/>
              <a:t>모듈</a:t>
            </a:r>
            <a:r>
              <a:rPr lang="en-US" altLang="ko-KR" dirty="0"/>
              <a:t>(</a:t>
            </a:r>
            <a:r>
              <a:rPr lang="ko-KR" altLang="en-US" dirty="0"/>
              <a:t>회원정보 등은 </a:t>
            </a:r>
            <a:r>
              <a:rPr lang="en-US" altLang="ko-KR" dirty="0"/>
              <a:t>DB </a:t>
            </a:r>
            <a:r>
              <a:rPr lang="ko-KR" altLang="en-US" dirty="0"/>
              <a:t>컨테이너</a:t>
            </a:r>
            <a:r>
              <a:rPr lang="en-US" altLang="ko-KR" dirty="0"/>
              <a:t>(</a:t>
            </a:r>
            <a:r>
              <a:rPr lang="en-US" altLang="ko-KR" dirty="0" err="1"/>
              <a:t>postgresql</a:t>
            </a:r>
            <a:r>
              <a:rPr lang="en-US" altLang="ko-KR" dirty="0"/>
              <a:t>)</a:t>
            </a:r>
            <a:r>
              <a:rPr lang="ko-KR" altLang="en-US" dirty="0"/>
              <a:t>에 저장</a:t>
            </a:r>
            <a:r>
              <a:rPr lang="en-US" altLang="ko-KR" dirty="0"/>
              <a:t>)</a:t>
            </a:r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관리자의 신규 프로세스 등록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일반사용자의 프로세스에 파일 업로드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/>
              <a:t>일반사용자가 업로드한 파일들을 프로세스별로 관리자가 확인가능</a:t>
            </a:r>
            <a:endParaRPr lang="en-US" altLang="ko-KR" dirty="0"/>
          </a:p>
          <a:p>
            <a:pPr lvl="1" indent="-342900">
              <a:buSzPts val="1800"/>
              <a:buAutoNum type="arabicPeriod"/>
            </a:pPr>
            <a:r>
              <a:rPr lang="ko-KR" altLang="en-US" dirty="0" err="1"/>
              <a:t>업로드된</a:t>
            </a:r>
            <a:r>
              <a:rPr lang="ko-KR" altLang="en-US" dirty="0"/>
              <a:t> 파일의 </a:t>
            </a:r>
            <a:r>
              <a:rPr lang="ko-KR" altLang="en-US" dirty="0" err="1"/>
              <a:t>공란포맷</a:t>
            </a:r>
            <a:r>
              <a:rPr lang="en-US" altLang="ko-KR" dirty="0"/>
              <a:t>(</a:t>
            </a:r>
            <a:r>
              <a:rPr lang="ko-KR" altLang="en-US" dirty="0"/>
              <a:t>최초양식</a:t>
            </a:r>
            <a:r>
              <a:rPr lang="en-US" altLang="ko-KR" dirty="0"/>
              <a:t>)</a:t>
            </a:r>
            <a:r>
              <a:rPr lang="ko-KR" altLang="en-US" dirty="0"/>
              <a:t>을 업로드하여 레이아웃 분석</a:t>
            </a:r>
            <a:r>
              <a:rPr lang="en-US" altLang="ko-KR" dirty="0"/>
              <a:t>(v-</a:t>
            </a:r>
            <a:r>
              <a:rPr lang="en-US" altLang="ko-KR" dirty="0" err="1"/>
              <a:t>llm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pPr lvl="2" indent="-342900">
              <a:buSzPts val="1800"/>
              <a:buAutoNum type="arabicPeriod"/>
            </a:pPr>
            <a:r>
              <a:rPr lang="ko-KR" altLang="en-US" dirty="0"/>
              <a:t>지난주 기준으로 사용 모델은 </a:t>
            </a:r>
            <a:r>
              <a:rPr lang="en-US" altLang="ko-KR" dirty="0"/>
              <a:t>Qwen2-VL-1.5B</a:t>
            </a:r>
          </a:p>
          <a:p>
            <a:pPr lvl="2" indent="-342900">
              <a:buSzPts val="1800"/>
              <a:buAutoNum type="arabicPeriod"/>
            </a:pPr>
            <a:r>
              <a:rPr lang="ko-KR" altLang="en-US" dirty="0" err="1"/>
              <a:t>중분류까지만</a:t>
            </a:r>
            <a:r>
              <a:rPr lang="ko-KR" altLang="en-US" dirty="0"/>
              <a:t> 추출되고</a:t>
            </a:r>
            <a:r>
              <a:rPr lang="en-US" altLang="ko-KR" dirty="0"/>
              <a:t>, </a:t>
            </a:r>
            <a:r>
              <a:rPr lang="ko-KR" altLang="en-US" dirty="0"/>
              <a:t>세부분류까지 잡지 못하는 아쉬움이 있었음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오늘 발표 주요 내용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AutoNum type="arabicPeriod"/>
            </a:pPr>
            <a:r>
              <a:rPr lang="ko-KR" altLang="en-US" dirty="0"/>
              <a:t>이번주 진행한 내용</a:t>
            </a:r>
            <a:endParaRPr lang="en-US" altLang="ko-KR" dirty="0"/>
          </a:p>
          <a:p>
            <a:pPr lvl="1">
              <a:buAutoNum type="arabicPeriod"/>
            </a:pPr>
            <a:r>
              <a:rPr lang="ko-KR" altLang="en-US" dirty="0" err="1"/>
              <a:t>사용중이었던</a:t>
            </a:r>
            <a:r>
              <a:rPr lang="ko-KR" altLang="en-US" dirty="0"/>
              <a:t> </a:t>
            </a:r>
            <a:r>
              <a:rPr lang="en-US" altLang="ko-KR" dirty="0"/>
              <a:t>Qwen2-VL-1.5B </a:t>
            </a:r>
            <a:r>
              <a:rPr lang="ko-KR" altLang="en-US" dirty="0"/>
              <a:t>사용 시 메모리가 생각보다 </a:t>
            </a:r>
            <a:r>
              <a:rPr lang="ko-KR" altLang="en-US" dirty="0" err="1"/>
              <a:t>널널함을</a:t>
            </a:r>
            <a:r>
              <a:rPr lang="ko-KR" altLang="en-US" dirty="0"/>
              <a:t> 확인</a:t>
            </a:r>
            <a:endParaRPr lang="en-US" altLang="ko-KR" dirty="0"/>
          </a:p>
          <a:p>
            <a:pPr lvl="2">
              <a:buAutoNum type="arabicPeriod"/>
            </a:pPr>
            <a:r>
              <a:rPr lang="en-US" dirty="0"/>
              <a:t>Qwen3-VL-8B </a:t>
            </a:r>
            <a:r>
              <a:rPr lang="ko-KR" altLang="en-US" dirty="0"/>
              <a:t>시도했다가 메모리 부족현상 확인</a:t>
            </a:r>
            <a:endParaRPr lang="en-US" altLang="ko-KR" dirty="0"/>
          </a:p>
          <a:p>
            <a:pPr lvl="2">
              <a:buAutoNum type="arabicPeriod"/>
            </a:pPr>
            <a:r>
              <a:rPr lang="ko-KR" altLang="en-US" dirty="0"/>
              <a:t>현재는 </a:t>
            </a:r>
            <a:r>
              <a:rPr lang="en-US" altLang="ko-KR" dirty="0"/>
              <a:t>Qwen2.5-VL-3B </a:t>
            </a:r>
            <a:r>
              <a:rPr lang="ko-KR" altLang="en-US" dirty="0"/>
              <a:t>사용 중</a:t>
            </a:r>
            <a:r>
              <a:rPr lang="en-US" altLang="ko-KR" dirty="0"/>
              <a:t> (</a:t>
            </a:r>
            <a:r>
              <a:rPr lang="ko-KR" altLang="en-US" dirty="0" err="1"/>
              <a:t>바운딩</a:t>
            </a:r>
            <a:r>
              <a:rPr lang="ko-KR" altLang="en-US" dirty="0"/>
              <a:t> 박스 처리 모습을 보며 성능 향상을 확인</a:t>
            </a:r>
            <a:r>
              <a:rPr lang="en-US" altLang="ko-KR" dirty="0"/>
              <a:t>)</a:t>
            </a:r>
          </a:p>
          <a:p>
            <a:pPr lvl="1">
              <a:buAutoNum type="arabicPeriod"/>
            </a:pPr>
            <a:r>
              <a:rPr lang="ko-KR" altLang="en-US" dirty="0"/>
              <a:t>레이아웃 분석 기능 고도화 </a:t>
            </a:r>
            <a:r>
              <a:rPr lang="en-US" altLang="ko-KR" dirty="0"/>
              <a:t>(</a:t>
            </a:r>
            <a:r>
              <a:rPr lang="en-US" altLang="ko-KR" b="1" dirty="0"/>
              <a:t>p.4</a:t>
            </a:r>
            <a:r>
              <a:rPr lang="ko-KR" altLang="en-US" b="1" dirty="0"/>
              <a:t>에 화면사진 첨부</a:t>
            </a:r>
            <a:r>
              <a:rPr lang="en-US" altLang="ko-KR" dirty="0"/>
              <a:t>)</a:t>
            </a:r>
          </a:p>
          <a:p>
            <a:pPr lvl="2"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템플릿 분석</a:t>
            </a:r>
            <a:r>
              <a:rPr lang="en-US" altLang="ko-KR" dirty="0"/>
              <a:t>] </a:t>
            </a:r>
            <a:r>
              <a:rPr lang="ko-KR" altLang="en-US" dirty="0"/>
              <a:t>단계에서</a:t>
            </a:r>
            <a:r>
              <a:rPr lang="en-US" altLang="ko-KR" dirty="0"/>
              <a:t> </a:t>
            </a:r>
            <a:r>
              <a:rPr lang="ko-KR" altLang="en-US" dirty="0"/>
              <a:t>세부분류까지 스키마로 잡히도록 프롬프트 수정</a:t>
            </a:r>
            <a:endParaRPr lang="en-US" altLang="ko-KR" dirty="0"/>
          </a:p>
          <a:p>
            <a:pPr lvl="2"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템플릿 분석</a:t>
            </a:r>
            <a:r>
              <a:rPr lang="en-US" altLang="ko-KR" dirty="0"/>
              <a:t>]</a:t>
            </a:r>
            <a:r>
              <a:rPr lang="ko-KR" altLang="en-US" dirty="0"/>
              <a:t>을 마치고 나면 추출된 스키마가 문서상 어느 위치로부터 추출된 것인지 확인 가능하도록 </a:t>
            </a:r>
            <a:r>
              <a:rPr lang="ko-KR" altLang="en-US" dirty="0" err="1"/>
              <a:t>문서이미지와</a:t>
            </a:r>
            <a:r>
              <a:rPr lang="ko-KR" altLang="en-US" dirty="0"/>
              <a:t> </a:t>
            </a:r>
            <a:r>
              <a:rPr lang="ko-KR" altLang="en-US" dirty="0" err="1"/>
              <a:t>바운딩박스를</a:t>
            </a:r>
            <a:r>
              <a:rPr lang="ko-KR" altLang="en-US" dirty="0"/>
              <a:t> 함께 </a:t>
            </a:r>
            <a:r>
              <a:rPr lang="en-US" altLang="ko-KR" dirty="0"/>
              <a:t>UI</a:t>
            </a:r>
            <a:r>
              <a:rPr lang="ko-KR" altLang="en-US" dirty="0"/>
              <a:t>에 </a:t>
            </a:r>
            <a:r>
              <a:rPr lang="ko-KR" altLang="en-US" dirty="0" err="1"/>
              <a:t>랜더링</a:t>
            </a:r>
            <a:endParaRPr lang="en-US" altLang="ko-KR" dirty="0"/>
          </a:p>
          <a:p>
            <a:pPr lvl="2">
              <a:buAutoNum type="arabicPeriod"/>
            </a:pPr>
            <a:r>
              <a:rPr lang="en-US" altLang="ko-KR" dirty="0"/>
              <a:t>LLM Temperature</a:t>
            </a:r>
            <a:r>
              <a:rPr lang="ko-KR" altLang="en-US" dirty="0"/>
              <a:t>를 </a:t>
            </a:r>
            <a:r>
              <a:rPr lang="en-US" altLang="ko-KR" dirty="0"/>
              <a:t>0.1</a:t>
            </a:r>
            <a:r>
              <a:rPr lang="ko-KR" altLang="en-US" dirty="0"/>
              <a:t>로 설정해서</a:t>
            </a:r>
            <a:r>
              <a:rPr lang="en-US" altLang="ko-KR" dirty="0"/>
              <a:t>, </a:t>
            </a:r>
            <a:r>
              <a:rPr lang="ko-KR" altLang="en-US" dirty="0"/>
              <a:t>매 실행마다 스키마 추출 결과가 바뀔 확률을 낮춤</a:t>
            </a:r>
            <a:r>
              <a:rPr lang="en-US" altLang="ko-KR" dirty="0"/>
              <a:t>(</a:t>
            </a:r>
            <a:r>
              <a:rPr lang="ko-KR" altLang="en-US" dirty="0"/>
              <a:t>서비스 품질에 대한 신뢰도 증가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2F77-EABC-E630-DEBC-EF1F80CF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C0CD316-7B18-608E-BF0D-249813060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37" y="127742"/>
            <a:ext cx="7955326" cy="46010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755BDD-F8D7-0F9B-E7E7-30187FF7838F}"/>
              </a:ext>
            </a:extLst>
          </p:cNvPr>
          <p:cNvSpPr txBox="1"/>
          <p:nvPr/>
        </p:nvSpPr>
        <p:spPr>
          <a:xfrm>
            <a:off x="3624540" y="4800600"/>
            <a:ext cx="5291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위 사진은</a:t>
            </a:r>
            <a:r>
              <a:rPr lang="en-US" altLang="ko-KR" sz="1100" dirty="0"/>
              <a:t> </a:t>
            </a:r>
            <a:r>
              <a:rPr lang="ko-KR" altLang="en-US" sz="1100" dirty="0"/>
              <a:t>한 화면에 담기 위해 줌아웃을 한 모습으로</a:t>
            </a:r>
            <a:r>
              <a:rPr lang="en-US" altLang="ko-KR" sz="1100" dirty="0"/>
              <a:t>, </a:t>
            </a:r>
            <a:r>
              <a:rPr lang="ko-KR" altLang="en-US" sz="1100" dirty="0"/>
              <a:t>실제 가독성은 더 좋습니다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5577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차주 상세 계획</a:t>
            </a:r>
            <a:endParaRPr dirty="0"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" dirty="0"/>
              <a:t>4</a:t>
            </a:r>
            <a:r>
              <a:rPr lang="ko" dirty="0"/>
              <a:t>월 </a:t>
            </a:r>
            <a:r>
              <a:rPr lang="en-US" altLang="ko" dirty="0"/>
              <a:t>3</a:t>
            </a:r>
            <a:r>
              <a:rPr lang="ko" dirty="0"/>
              <a:t>주차</a:t>
            </a:r>
            <a:endParaRPr lang="en-US" altLang="ko" dirty="0"/>
          </a:p>
          <a:p>
            <a:pPr lvl="1" indent="-342900">
              <a:buSzPts val="1800"/>
              <a:buChar char="●"/>
            </a:pPr>
            <a:r>
              <a:rPr lang="ko-KR" altLang="en-US" dirty="0"/>
              <a:t>연구계획서 외에도 여러 정형문서 양식으로 테스트해보며 추출 품질 확인 진행 </a:t>
            </a:r>
            <a:r>
              <a:rPr lang="en-US" altLang="ko-KR" dirty="0"/>
              <a:t>(</a:t>
            </a:r>
            <a:r>
              <a:rPr lang="ko-KR" altLang="en-US" dirty="0"/>
              <a:t>산출물</a:t>
            </a:r>
            <a:r>
              <a:rPr lang="en-US" altLang="ko-KR" dirty="0"/>
              <a:t>: </a:t>
            </a:r>
            <a:r>
              <a:rPr lang="ko-KR" altLang="en-US" dirty="0"/>
              <a:t>테스트 시트</a:t>
            </a:r>
            <a:r>
              <a:rPr lang="en-US" altLang="ko-KR" dirty="0"/>
              <a:t>)</a:t>
            </a:r>
          </a:p>
          <a:p>
            <a:pPr lvl="1" indent="-342900">
              <a:buSzPts val="1800"/>
              <a:buChar char="●"/>
            </a:pPr>
            <a:r>
              <a:rPr lang="ko-KR" altLang="en-US" dirty="0"/>
              <a:t>분석된 스키마를 저장한 뒤</a:t>
            </a:r>
            <a:r>
              <a:rPr lang="en-US" altLang="ko-KR" dirty="0"/>
              <a:t>, </a:t>
            </a:r>
            <a:r>
              <a:rPr lang="ko-KR" altLang="en-US" dirty="0"/>
              <a:t>일반사용자들이 업로드한 문서들을 대상으로 </a:t>
            </a:r>
            <a:r>
              <a:rPr lang="en-US" altLang="ko-KR" dirty="0"/>
              <a:t>Key-value</a:t>
            </a:r>
            <a:r>
              <a:rPr lang="ko-KR" altLang="en-US" dirty="0"/>
              <a:t>를 추출하여 하나의 엑셀 시트로 저장하는 기능</a:t>
            </a:r>
            <a:r>
              <a:rPr lang="en-US" altLang="ko-KR" dirty="0"/>
              <a:t> </a:t>
            </a:r>
            <a:r>
              <a:rPr lang="ko-KR" altLang="en-US" dirty="0"/>
              <a:t>개발</a:t>
            </a:r>
            <a:endParaRPr lang="en-US" altLang="ko-KR" dirty="0"/>
          </a:p>
          <a:p>
            <a:pPr lvl="2" indent="-342900">
              <a:buSzPts val="1800"/>
              <a:buChar char="●"/>
            </a:pPr>
            <a:r>
              <a:rPr lang="ko-KR" altLang="en-US" dirty="0"/>
              <a:t>위 기능은 지난주 기준으로 아래와 같이 개발되어 있었음</a:t>
            </a:r>
            <a:r>
              <a:rPr lang="en-US" altLang="ko-KR" dirty="0"/>
              <a:t> (</a:t>
            </a:r>
            <a:r>
              <a:rPr lang="ko-KR" altLang="en-US" dirty="0"/>
              <a:t>이번주 버전에 맞게 고도화가 필요한 상황</a:t>
            </a:r>
            <a:r>
              <a:rPr lang="en-US" altLang="ko-KR" dirty="0"/>
              <a:t>)</a:t>
            </a:r>
            <a:endParaRPr lang="en-US" altLang="ko" dirty="0"/>
          </a:p>
          <a:p>
            <a:pPr lvl="1" indent="-342900">
              <a:buSzPts val="1800"/>
              <a:buChar char="●"/>
            </a:pPr>
            <a:endParaRPr lang="ko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DCD643-A87B-A09F-02EA-9C3FB9C53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45" y="3326381"/>
            <a:ext cx="7814930" cy="8969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284</Words>
  <Application>Microsoft Office PowerPoint</Application>
  <PresentationFormat>화면 슬라이드 쇼(16:9)</PresentationFormat>
  <Paragraphs>32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260408</vt:lpstr>
      <vt:lpstr>지난 발표 주요 내용 정리</vt:lpstr>
      <vt:lpstr>오늘 발표 주요 내용</vt:lpstr>
      <vt:lpstr>PowerPoint 프레젠테이션</vt:lpstr>
      <vt:lpstr>차주 상세 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WoongHee Lee</cp:lastModifiedBy>
  <cp:revision>33</cp:revision>
  <dcterms:modified xsi:type="dcterms:W3CDTF">2026-04-08T08:41:52Z</dcterms:modified>
</cp:coreProperties>
</file>