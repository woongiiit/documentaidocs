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84" r:id="rId3"/>
    <p:sldId id="258" r:id="rId4"/>
    <p:sldId id="285" r:id="rId5"/>
    <p:sldId id="286" r:id="rId6"/>
    <p:sldId id="287" r:id="rId7"/>
    <p:sldId id="288" r:id="rId8"/>
    <p:sldId id="289" r:id="rId9"/>
    <p:sldId id="290" r:id="rId10"/>
    <p:sldId id="292" r:id="rId11"/>
    <p:sldId id="291" r:id="rId12"/>
    <p:sldId id="293" r:id="rId13"/>
    <p:sldId id="294" r:id="rId14"/>
    <p:sldId id="295" r:id="rId15"/>
    <p:sldId id="296" r:id="rId16"/>
    <p:sldId id="275" r:id="rId17"/>
    <p:sldId id="277" r:id="rId1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96" y="3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E247BD98-4529-A259-F02E-D81C67234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0792cc2d5_0_6:notes">
            <a:extLst>
              <a:ext uri="{FF2B5EF4-FFF2-40B4-BE49-F238E27FC236}">
                <a16:creationId xmlns:a16="http://schemas.microsoft.com/office/drawing/2014/main" id="{7AA92E12-EF5B-6B70-5288-CF2CD15D2A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0792cc2d5_0_6:notes">
            <a:extLst>
              <a:ext uri="{FF2B5EF4-FFF2-40B4-BE49-F238E27FC236}">
                <a16:creationId xmlns:a16="http://schemas.microsoft.com/office/drawing/2014/main" id="{AA1E5F06-DB52-3877-DE65-4C08120051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04270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0792cc2d5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0792cc2d5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7E41686A-3CC8-0996-9351-195E0163B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0792cc2d5_0_11:notes">
            <a:extLst>
              <a:ext uri="{FF2B5EF4-FFF2-40B4-BE49-F238E27FC236}">
                <a16:creationId xmlns:a16="http://schemas.microsoft.com/office/drawing/2014/main" id="{B48E31D0-DE10-0B94-FD30-89A28344F1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0792cc2d5_0_11:notes">
            <a:extLst>
              <a:ext uri="{FF2B5EF4-FFF2-40B4-BE49-F238E27FC236}">
                <a16:creationId xmlns:a16="http://schemas.microsoft.com/office/drawing/2014/main" id="{980D0C25-EECD-D975-C3C8-C6245A7541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82609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867F6A56-206D-131E-119F-86FAEEA5C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0792cc2d5_0_11:notes">
            <a:extLst>
              <a:ext uri="{FF2B5EF4-FFF2-40B4-BE49-F238E27FC236}">
                <a16:creationId xmlns:a16="http://schemas.microsoft.com/office/drawing/2014/main" id="{79B63E6B-AEB0-72E9-2732-E3D7DC58CA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0792cc2d5_0_11:notes">
            <a:extLst>
              <a:ext uri="{FF2B5EF4-FFF2-40B4-BE49-F238E27FC236}">
                <a16:creationId xmlns:a16="http://schemas.microsoft.com/office/drawing/2014/main" id="{597434A4-689C-F742-0DA3-CAA0117266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74441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C86CA73F-27D7-2CAA-B658-5C6A876D7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0792cc2d5_0_11:notes">
            <a:extLst>
              <a:ext uri="{FF2B5EF4-FFF2-40B4-BE49-F238E27FC236}">
                <a16:creationId xmlns:a16="http://schemas.microsoft.com/office/drawing/2014/main" id="{ACD69A98-635C-7692-DB11-40AA31C59E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0792cc2d5_0_11:notes">
            <a:extLst>
              <a:ext uri="{FF2B5EF4-FFF2-40B4-BE49-F238E27FC236}">
                <a16:creationId xmlns:a16="http://schemas.microsoft.com/office/drawing/2014/main" id="{E7175436-A546-494E-9649-6BCA2B51B5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27716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A88E4431-2158-C52D-95F0-6EC0ED0E6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0792cc2d5_0_11:notes">
            <a:extLst>
              <a:ext uri="{FF2B5EF4-FFF2-40B4-BE49-F238E27FC236}">
                <a16:creationId xmlns:a16="http://schemas.microsoft.com/office/drawing/2014/main" id="{7748AC1C-13B6-3A69-56E8-E747157A8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0792cc2d5_0_11:notes">
            <a:extLst>
              <a:ext uri="{FF2B5EF4-FFF2-40B4-BE49-F238E27FC236}">
                <a16:creationId xmlns:a16="http://schemas.microsoft.com/office/drawing/2014/main" id="{49A0DBDA-96B7-E415-B8D4-C1B9873B3B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46454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57B36FB6-8CCF-248F-E21E-9E101BB71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0792cc2d5_0_11:notes">
            <a:extLst>
              <a:ext uri="{FF2B5EF4-FFF2-40B4-BE49-F238E27FC236}">
                <a16:creationId xmlns:a16="http://schemas.microsoft.com/office/drawing/2014/main" id="{8AA70069-2891-1CE3-8EC2-C4A71F64E3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0792cc2d5_0_11:notes">
            <a:extLst>
              <a:ext uri="{FF2B5EF4-FFF2-40B4-BE49-F238E27FC236}">
                <a16:creationId xmlns:a16="http://schemas.microsoft.com/office/drawing/2014/main" id="{17D61389-5395-8818-3DF2-06A60388E3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00520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4B7BF611-3D8C-4482-95BE-A0CDEE5FB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0792cc2d5_0_11:notes">
            <a:extLst>
              <a:ext uri="{FF2B5EF4-FFF2-40B4-BE49-F238E27FC236}">
                <a16:creationId xmlns:a16="http://schemas.microsoft.com/office/drawing/2014/main" id="{4916DB52-DAE1-DD4E-B7D4-C6C1CF59AF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0792cc2d5_0_11:notes">
            <a:extLst>
              <a:ext uri="{FF2B5EF4-FFF2-40B4-BE49-F238E27FC236}">
                <a16:creationId xmlns:a16="http://schemas.microsoft.com/office/drawing/2014/main" id="{5FB637C2-11AA-473C-ADAA-E15E0C0A90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83143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524BCDFC-FA98-B1AB-FE6A-069928CAE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0792cc2d5_0_11:notes">
            <a:extLst>
              <a:ext uri="{FF2B5EF4-FFF2-40B4-BE49-F238E27FC236}">
                <a16:creationId xmlns:a16="http://schemas.microsoft.com/office/drawing/2014/main" id="{870D2F62-2570-911E-1800-0A6A38C1A2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0792cc2d5_0_11:notes">
            <a:extLst>
              <a:ext uri="{FF2B5EF4-FFF2-40B4-BE49-F238E27FC236}">
                <a16:creationId xmlns:a16="http://schemas.microsoft.com/office/drawing/2014/main" id="{22C8DD38-EE69-EC8B-B588-AA42C6DC00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86825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C196B5D8-C4DD-34A5-83F8-51FB80D33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0792cc2d5_0_11:notes">
            <a:extLst>
              <a:ext uri="{FF2B5EF4-FFF2-40B4-BE49-F238E27FC236}">
                <a16:creationId xmlns:a16="http://schemas.microsoft.com/office/drawing/2014/main" id="{1FA4FBF3-F2E5-717B-4E44-12A3587709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0792cc2d5_0_11:notes">
            <a:extLst>
              <a:ext uri="{FF2B5EF4-FFF2-40B4-BE49-F238E27FC236}">
                <a16:creationId xmlns:a16="http://schemas.microsoft.com/office/drawing/2014/main" id="{6CEEB07C-9162-44DC-D30B-FEB1457505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57941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72ACC8AB-9809-6DB1-F708-159254B2A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0792cc2d5_0_11:notes">
            <a:extLst>
              <a:ext uri="{FF2B5EF4-FFF2-40B4-BE49-F238E27FC236}">
                <a16:creationId xmlns:a16="http://schemas.microsoft.com/office/drawing/2014/main" id="{FB4AC55B-0BC8-4D58-BEFE-97B1580F6F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0792cc2d5_0_11:notes">
            <a:extLst>
              <a:ext uri="{FF2B5EF4-FFF2-40B4-BE49-F238E27FC236}">
                <a16:creationId xmlns:a16="http://schemas.microsoft.com/office/drawing/2014/main" id="{3B4A093C-7D28-C418-290B-3BE435DCF3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08130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85BC3621-8E5E-9F8F-A44D-FB4D8CB0E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0792cc2d5_0_11:notes">
            <a:extLst>
              <a:ext uri="{FF2B5EF4-FFF2-40B4-BE49-F238E27FC236}">
                <a16:creationId xmlns:a16="http://schemas.microsoft.com/office/drawing/2014/main" id="{99F57169-CDCF-72EC-EED6-B100E2BD60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0792cc2d5_0_11:notes">
            <a:extLst>
              <a:ext uri="{FF2B5EF4-FFF2-40B4-BE49-F238E27FC236}">
                <a16:creationId xmlns:a16="http://schemas.microsoft.com/office/drawing/2014/main" id="{1300F081-1020-C4D4-554F-EF4FB07DED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21074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1FEF6B0F-99CB-DE4F-03B6-1B3E340E0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0792cc2d5_0_11:notes">
            <a:extLst>
              <a:ext uri="{FF2B5EF4-FFF2-40B4-BE49-F238E27FC236}">
                <a16:creationId xmlns:a16="http://schemas.microsoft.com/office/drawing/2014/main" id="{E3E216CC-E653-EED9-FF5C-9C14E2F000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0792cc2d5_0_11:notes">
            <a:extLst>
              <a:ext uri="{FF2B5EF4-FFF2-40B4-BE49-F238E27FC236}">
                <a16:creationId xmlns:a16="http://schemas.microsoft.com/office/drawing/2014/main" id="{39478EF6-B595-5135-943A-5E0CEC5706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84331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FCA4A13D-37F0-46E1-C699-025B924D0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0792cc2d5_0_11:notes">
            <a:extLst>
              <a:ext uri="{FF2B5EF4-FFF2-40B4-BE49-F238E27FC236}">
                <a16:creationId xmlns:a16="http://schemas.microsoft.com/office/drawing/2014/main" id="{1F77F592-8790-A643-3E0F-C632318FCD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0792cc2d5_0_11:notes">
            <a:extLst>
              <a:ext uri="{FF2B5EF4-FFF2-40B4-BE49-F238E27FC236}">
                <a16:creationId xmlns:a16="http://schemas.microsoft.com/office/drawing/2014/main" id="{169A66F0-20C7-1C88-DB1C-CD72F280CE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14266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0792cc2d5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d0792cc2d5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0792cc2d5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d0792cc2d5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260</a:t>
            </a:r>
            <a:r>
              <a:rPr lang="en-US" altLang="ko" dirty="0"/>
              <a:t>507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정준호 교수님 개별연구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2020112008 이웅희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주제: 특정 사무프로세스 자동화를 위한 주요모듈 및 UI/UX개선연구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EEBB0BA4-A692-5F83-418D-3EC64D187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FA51CB76-E98D-DE27-1E28-520B431F33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지난 발표 주요 내용 정리</a:t>
            </a:r>
            <a:endParaRPr dirty="0"/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6D6D891D-80E7-D80C-243B-BEEE1F0A7C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altLang="ko-KR" dirty="0"/>
              <a:t>04/29(</a:t>
            </a:r>
            <a:r>
              <a:rPr lang="ko-KR" altLang="en-US" dirty="0"/>
              <a:t>수</a:t>
            </a:r>
            <a:r>
              <a:rPr lang="en-US" altLang="ko-KR" dirty="0"/>
              <a:t>) </a:t>
            </a:r>
            <a:r>
              <a:rPr lang="ko-KR" altLang="en-US" dirty="0"/>
              <a:t>중간발표 진행</a:t>
            </a:r>
            <a:endParaRPr lang="en-US" altLang="ko-KR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-KR" altLang="en-US" dirty="0"/>
              <a:t>진행 사항 요약</a:t>
            </a:r>
            <a:r>
              <a:rPr lang="en-US" altLang="ko-KR" dirty="0"/>
              <a:t> </a:t>
            </a:r>
            <a:r>
              <a:rPr lang="ko-KR" altLang="en-US" dirty="0"/>
              <a:t>보고</a:t>
            </a:r>
            <a:endParaRPr lang="en-US" altLang="ko-KR" dirty="0"/>
          </a:p>
          <a:p>
            <a:pPr lvl="1" indent="-342900">
              <a:buSzPts val="1800"/>
              <a:buAutoNum type="arabicPeriod"/>
            </a:pPr>
            <a:r>
              <a:rPr lang="ko-KR" altLang="en-US" dirty="0"/>
              <a:t>스펙 및 개발 프레임워크</a:t>
            </a:r>
            <a:endParaRPr lang="en-US" altLang="ko-KR" dirty="0"/>
          </a:p>
          <a:p>
            <a:pPr lvl="1" indent="-342900">
              <a:buSzPts val="1800"/>
              <a:buAutoNum type="arabicPeriod"/>
            </a:pPr>
            <a:r>
              <a:rPr lang="ko-KR" altLang="en-US" dirty="0"/>
              <a:t>정형 문서의 레이아웃 분석 기능 고도화 및 성능 테스트</a:t>
            </a:r>
            <a:endParaRPr lang="en-US" altLang="ko-KR" dirty="0"/>
          </a:p>
          <a:p>
            <a:pPr lvl="1" indent="-342900">
              <a:buSzPts val="1800"/>
              <a:buAutoNum type="arabicPeriod"/>
            </a:pPr>
            <a:r>
              <a:rPr lang="ko-KR" altLang="en-US" dirty="0"/>
              <a:t>단일 문서 프로세스 플로우 개발</a:t>
            </a:r>
            <a:endParaRPr lang="en-US" altLang="ko-KR" dirty="0"/>
          </a:p>
          <a:p>
            <a:pPr lvl="1" indent="-342900">
              <a:buSzPts val="1800"/>
              <a:buAutoNum type="arabicPeriod"/>
            </a:pPr>
            <a:endParaRPr lang="en-US" altLang="ko-KR" dirty="0"/>
          </a:p>
          <a:p>
            <a:pPr lvl="1" indent="-342900">
              <a:buSzPts val="1800"/>
              <a:buAutoNum type="arabicPeriod"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81005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오늘 발표 주요 내용</a:t>
            </a:r>
            <a:endParaRPr dirty="0"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Font typeface="Arial"/>
              <a:buAutoNum type="arabicPeriod"/>
            </a:pPr>
            <a:r>
              <a:rPr lang="en-US" altLang="ko-KR" dirty="0"/>
              <a:t>UI/UX </a:t>
            </a:r>
            <a:r>
              <a:rPr lang="ko-KR" altLang="en-US" dirty="0"/>
              <a:t>개선 현황</a:t>
            </a:r>
            <a:endParaRPr lang="en-US" altLang="ko-KR" dirty="0"/>
          </a:p>
          <a:p>
            <a:pPr>
              <a:buFont typeface="Arial"/>
              <a:buAutoNum type="arabicPeriod"/>
            </a:pPr>
            <a:r>
              <a:rPr lang="ko-KR" altLang="en-US" dirty="0"/>
              <a:t>다중 문서 프로세스 플로우 개발</a:t>
            </a:r>
            <a:endParaRPr lang="en-US" altLang="ko-KR" dirty="0"/>
          </a:p>
          <a:p>
            <a:pPr lvl="1">
              <a:buFont typeface="Arial"/>
              <a:buAutoNum type="arabicPeriod"/>
            </a:pPr>
            <a:r>
              <a:rPr lang="ko-KR" altLang="en-US" dirty="0"/>
              <a:t>업로드 된 다중 문서들의 클러스터링</a:t>
            </a:r>
            <a:r>
              <a:rPr lang="en-US" altLang="ko-KR" dirty="0"/>
              <a:t> </a:t>
            </a:r>
            <a:r>
              <a:rPr lang="ko-KR" altLang="en-US" dirty="0"/>
              <a:t>기능의 필요성</a:t>
            </a:r>
            <a:r>
              <a:rPr lang="en-US" altLang="ko-KR" dirty="0"/>
              <a:t> </a:t>
            </a:r>
            <a:r>
              <a:rPr lang="ko-KR" altLang="en-US" dirty="0"/>
              <a:t>고찰 </a:t>
            </a:r>
            <a:r>
              <a:rPr lang="en-US" altLang="ko-KR" dirty="0"/>
              <a:t>(</a:t>
            </a:r>
            <a:r>
              <a:rPr lang="ko-KR" altLang="en-US" dirty="0"/>
              <a:t>일반 사용자의 관점에서</a:t>
            </a:r>
            <a:r>
              <a:rPr lang="en-US" altLang="ko-KR" dirty="0"/>
              <a:t>)</a:t>
            </a:r>
          </a:p>
          <a:p>
            <a:pPr lvl="1">
              <a:buFont typeface="Arial"/>
              <a:buAutoNum type="arabicPeriod"/>
            </a:pPr>
            <a:r>
              <a:rPr lang="ko-KR" altLang="en-US" dirty="0"/>
              <a:t>개발 현황</a:t>
            </a:r>
            <a:endParaRPr lang="en-US" altLang="ko-KR" dirty="0"/>
          </a:p>
          <a:p>
            <a:pPr lvl="2">
              <a:buFont typeface="Arial"/>
              <a:buAutoNum type="arabicPeriod"/>
            </a:pPr>
            <a:r>
              <a:rPr lang="ko-KR" altLang="en-US" dirty="0"/>
              <a:t>다중 문서 프로세스의 레이아웃 분석 화면</a:t>
            </a:r>
            <a:endParaRPr lang="en-US" altLang="ko-KR" dirty="0"/>
          </a:p>
          <a:p>
            <a:pPr lvl="2">
              <a:buFont typeface="Arial"/>
              <a:buAutoNum type="arabicPeriod"/>
            </a:pPr>
            <a:r>
              <a:rPr lang="ko-KR" altLang="en-US" dirty="0"/>
              <a:t>다중 문서 프로세스의 문서 처리 실행 화면</a:t>
            </a:r>
            <a:endParaRPr lang="en-US" altLang="ko-KR" dirty="0"/>
          </a:p>
          <a:p>
            <a:pPr lvl="2">
              <a:buFont typeface="Arial"/>
              <a:buAutoNum type="arabicPeriod"/>
            </a:pPr>
            <a:endParaRPr lang="en-US" altLang="ko-K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9DFB8CB5-D9EE-5461-75F6-B8639DE07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>
            <a:extLst>
              <a:ext uri="{FF2B5EF4-FFF2-40B4-BE49-F238E27FC236}">
                <a16:creationId xmlns:a16="http://schemas.microsoft.com/office/drawing/2014/main" id="{F5AE9DDF-A291-1662-F226-BC9F0800B6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altLang="ko-KR" dirty="0"/>
              <a:t>UI/UX</a:t>
            </a:r>
            <a:r>
              <a:rPr lang="ko-KR" altLang="en-US" dirty="0"/>
              <a:t> 개선 현황</a:t>
            </a:r>
            <a:endParaRPr lang="en-US" altLang="ko-KR" dirty="0"/>
          </a:p>
        </p:txBody>
      </p: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E484F405-F52E-E888-B19E-2AB4E474EF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939824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FontTx/>
              <a:buChar char="-"/>
            </a:pPr>
            <a:r>
              <a:rPr lang="ko-KR" altLang="en-US" sz="1500" dirty="0"/>
              <a:t>로그인 페이지</a:t>
            </a:r>
            <a:endParaRPr lang="en-US" altLang="ko-KR" sz="1500" dirty="0"/>
          </a:p>
          <a:p>
            <a:pPr lvl="1">
              <a:buFontTx/>
              <a:buChar char="-"/>
            </a:pPr>
            <a:r>
              <a:rPr lang="ko-KR" altLang="en-US" sz="1100" dirty="0"/>
              <a:t>동국대학교 </a:t>
            </a:r>
            <a:r>
              <a:rPr lang="en-US" altLang="ko-KR" sz="1100" dirty="0"/>
              <a:t>E-class UI</a:t>
            </a:r>
            <a:r>
              <a:rPr lang="ko-KR" altLang="en-US" sz="1100" dirty="0"/>
              <a:t>를 참고하여 구현</a:t>
            </a:r>
            <a:endParaRPr lang="en-US" altLang="ko-KR" sz="1100" dirty="0"/>
          </a:p>
          <a:p>
            <a:pPr marL="596900" lvl="1" indent="0">
              <a:buNone/>
            </a:pPr>
            <a:endParaRPr lang="en-US" altLang="ko-KR" sz="11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0B48330-54BE-E0FA-3B69-2D1BE30E1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4970" y="1686435"/>
            <a:ext cx="5854059" cy="3350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762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EC8DE02F-3E39-50B1-98D1-0D176D1F7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>
            <a:extLst>
              <a:ext uri="{FF2B5EF4-FFF2-40B4-BE49-F238E27FC236}">
                <a16:creationId xmlns:a16="http://schemas.microsoft.com/office/drawing/2014/main" id="{01C2F0B9-3F6C-E7B4-AFD2-196273FC61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altLang="ko-KR" dirty="0"/>
              <a:t>UI/UX</a:t>
            </a:r>
            <a:r>
              <a:rPr lang="ko-KR" altLang="en-US" dirty="0"/>
              <a:t> 개선 현황</a:t>
            </a:r>
            <a:endParaRPr lang="en-US" altLang="ko-KR" dirty="0"/>
          </a:p>
        </p:txBody>
      </p: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2A83C0AD-6433-AE11-7CA6-4FF73B09CE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55756" y="925647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FontTx/>
              <a:buChar char="-"/>
            </a:pPr>
            <a:r>
              <a:rPr lang="ko-KR" altLang="en-US" sz="1500" dirty="0"/>
              <a:t>메인 페이지</a:t>
            </a:r>
            <a:endParaRPr lang="en-US" altLang="ko-KR" sz="1500" dirty="0"/>
          </a:p>
          <a:p>
            <a:pPr lvl="1">
              <a:buFontTx/>
              <a:buChar char="-"/>
            </a:pPr>
            <a:r>
              <a:rPr lang="ko-KR" altLang="en-US" sz="1100" dirty="0"/>
              <a:t>기존 프로세스 </a:t>
            </a:r>
            <a:r>
              <a:rPr lang="en-US" altLang="ko-KR" sz="1100" dirty="0"/>
              <a:t>CRUD</a:t>
            </a:r>
            <a:r>
              <a:rPr lang="ko-KR" altLang="en-US" sz="1100" dirty="0"/>
              <a:t>와 </a:t>
            </a:r>
            <a:r>
              <a:rPr lang="en-US" altLang="ko-KR" sz="1100" dirty="0"/>
              <a:t>[</a:t>
            </a:r>
            <a:r>
              <a:rPr lang="ko-KR" altLang="en-US" sz="1100" dirty="0"/>
              <a:t>내 제출</a:t>
            </a:r>
            <a:r>
              <a:rPr lang="en-US" altLang="ko-KR" sz="1100" dirty="0"/>
              <a:t>]</a:t>
            </a:r>
            <a:r>
              <a:rPr lang="ko-KR" altLang="en-US" sz="1100" dirty="0"/>
              <a:t>을 상단 메뉴로 설정</a:t>
            </a:r>
            <a:endParaRPr lang="en-US" altLang="ko-KR" sz="1100" dirty="0"/>
          </a:p>
          <a:p>
            <a:pPr lvl="1">
              <a:buFontTx/>
              <a:buChar char="-"/>
            </a:pPr>
            <a:r>
              <a:rPr lang="ko-KR" altLang="en-US" sz="1100" dirty="0"/>
              <a:t>부가 기능</a:t>
            </a:r>
            <a:r>
              <a:rPr lang="en-US" altLang="ko-KR" sz="1100" dirty="0"/>
              <a:t>(</a:t>
            </a:r>
            <a:r>
              <a:rPr lang="ko-KR" altLang="en-US" sz="1100" dirty="0"/>
              <a:t>로그인 세션 만료 시간 </a:t>
            </a:r>
            <a:r>
              <a:rPr lang="en-US" altLang="ko-KR" sz="1100" dirty="0"/>
              <a:t>30</a:t>
            </a:r>
            <a:r>
              <a:rPr lang="ko-KR" altLang="en-US" sz="1100" dirty="0"/>
              <a:t>분</a:t>
            </a:r>
            <a:r>
              <a:rPr lang="en-US" altLang="ko-KR" sz="1100" dirty="0"/>
              <a:t>, </a:t>
            </a:r>
            <a:r>
              <a:rPr lang="ko-KR" altLang="en-US" sz="1100" dirty="0"/>
              <a:t>프로세스 검색</a:t>
            </a:r>
            <a:r>
              <a:rPr lang="en-US" altLang="ko-KR" sz="1100" dirty="0"/>
              <a:t>/</a:t>
            </a:r>
            <a:r>
              <a:rPr lang="ko-KR" altLang="en-US" sz="1100" dirty="0"/>
              <a:t>정렬 기능</a:t>
            </a:r>
            <a:r>
              <a:rPr lang="en-US" altLang="ko-KR" sz="1100" dirty="0"/>
              <a:t>) </a:t>
            </a:r>
            <a:r>
              <a:rPr lang="ko-KR" altLang="en-US" sz="1100" dirty="0"/>
              <a:t>추가</a:t>
            </a:r>
            <a:endParaRPr lang="en-US" altLang="ko-KR" sz="1100" dirty="0"/>
          </a:p>
          <a:p>
            <a:pPr lvl="1">
              <a:buFontTx/>
              <a:buChar char="-"/>
            </a:pPr>
            <a:r>
              <a:rPr lang="ko-KR" altLang="en-US" sz="1100" dirty="0"/>
              <a:t>공지사항</a:t>
            </a:r>
            <a:r>
              <a:rPr lang="en-US" altLang="ko-KR" sz="1100" dirty="0"/>
              <a:t>/</a:t>
            </a:r>
            <a:r>
              <a:rPr lang="ko-KR" altLang="en-US" sz="1100" dirty="0"/>
              <a:t>이용안내는 현재는 더미 데이터</a:t>
            </a:r>
            <a:endParaRPr lang="en-US" altLang="ko-KR" sz="11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D685EEF-C1CB-6FE8-D450-11786FBC0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2571" y="1857673"/>
            <a:ext cx="5740625" cy="3285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335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78D51693-0E55-8C9D-135E-036E447A2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>
            <a:extLst>
              <a:ext uri="{FF2B5EF4-FFF2-40B4-BE49-F238E27FC236}">
                <a16:creationId xmlns:a16="http://schemas.microsoft.com/office/drawing/2014/main" id="{EB1D3F18-DA7A-FA92-65EA-20AB244BC9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altLang="ko-KR" dirty="0"/>
              <a:t>UI/UX</a:t>
            </a:r>
            <a:r>
              <a:rPr lang="ko-KR" altLang="en-US" dirty="0"/>
              <a:t> 개선 현황</a:t>
            </a:r>
            <a:endParaRPr lang="en-US" altLang="ko-KR" dirty="0"/>
          </a:p>
        </p:txBody>
      </p: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03A972B6-74D1-372A-ADB0-973188A030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55756" y="925647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FontTx/>
              <a:buChar char="-"/>
            </a:pPr>
            <a:r>
              <a:rPr lang="ko-KR" altLang="en-US" sz="1500" dirty="0"/>
              <a:t>메인 페이지</a:t>
            </a:r>
            <a:r>
              <a:rPr lang="en-US" altLang="ko-KR" sz="1500" dirty="0"/>
              <a:t>(2)</a:t>
            </a:r>
          </a:p>
          <a:p>
            <a:pPr lvl="1">
              <a:buFontTx/>
              <a:buChar char="-"/>
            </a:pPr>
            <a:r>
              <a:rPr lang="ko-KR" altLang="en-US" sz="1100" dirty="0"/>
              <a:t>한 화면에 최대 </a:t>
            </a:r>
            <a:r>
              <a:rPr lang="en-US" altLang="ko-KR" sz="1100" dirty="0"/>
              <a:t>9</a:t>
            </a:r>
            <a:r>
              <a:rPr lang="ko-KR" altLang="en-US" sz="1100" dirty="0"/>
              <a:t>개 프로세스 표시 </a:t>
            </a:r>
            <a:r>
              <a:rPr lang="en-US" altLang="ko-KR" sz="1100" dirty="0"/>
              <a:t>(3x3)</a:t>
            </a:r>
          </a:p>
          <a:p>
            <a:pPr lvl="1">
              <a:buFontTx/>
              <a:buChar char="-"/>
            </a:pPr>
            <a:r>
              <a:rPr lang="ko-KR" altLang="en-US" sz="1100" dirty="0"/>
              <a:t>초과 분에 대해서 페이지 </a:t>
            </a:r>
            <a:r>
              <a:rPr lang="ko-KR" altLang="en-US" sz="1100" dirty="0" err="1"/>
              <a:t>내이션</a:t>
            </a:r>
            <a:r>
              <a:rPr lang="ko-KR" altLang="en-US" sz="1100" dirty="0"/>
              <a:t> 구현</a:t>
            </a:r>
            <a:endParaRPr lang="en-US" altLang="ko-KR" sz="1100" dirty="0"/>
          </a:p>
          <a:p>
            <a:pPr marL="596900" lvl="1" indent="0">
              <a:buNone/>
            </a:pPr>
            <a:endParaRPr lang="en-US" altLang="ko-KR" sz="11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49BB9F8-45D7-FAEE-5293-64338928F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571" y="1692445"/>
            <a:ext cx="6036969" cy="3451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053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588E3B4B-BBF6-670D-98DE-7D04825A2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>
            <a:extLst>
              <a:ext uri="{FF2B5EF4-FFF2-40B4-BE49-F238E27FC236}">
                <a16:creationId xmlns:a16="http://schemas.microsoft.com/office/drawing/2014/main" id="{07BC47D2-D125-E0D5-B24E-0FBA18E853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ko-KR" altLang="en-US" dirty="0"/>
              <a:t>다중 문서 프로세스 플로우 개발</a:t>
            </a:r>
            <a:endParaRPr lang="en-US" altLang="ko-KR" dirty="0"/>
          </a:p>
        </p:txBody>
      </p: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89EAEE4E-E209-36DF-9989-51AD464C28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55756" y="925647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FontTx/>
              <a:buChar char="-"/>
            </a:pPr>
            <a:r>
              <a:rPr lang="ko-KR" altLang="en-US" sz="1500" dirty="0"/>
              <a:t>업로드 된 다중 문서들의 클러스터링 기능의 필요성 고찰 </a:t>
            </a:r>
            <a:r>
              <a:rPr lang="en-US" altLang="ko-KR" sz="1500" dirty="0"/>
              <a:t>(</a:t>
            </a:r>
            <a:r>
              <a:rPr lang="ko-KR" altLang="en-US" sz="1500" dirty="0"/>
              <a:t>일반 사용자의 관점에서</a:t>
            </a:r>
            <a:r>
              <a:rPr lang="en-US" altLang="ko-KR" sz="1500" dirty="0"/>
              <a:t>)</a:t>
            </a:r>
            <a:endParaRPr lang="en-US" altLang="ko-KR" sz="1100" dirty="0"/>
          </a:p>
          <a:p>
            <a:pPr lvl="1">
              <a:buFontTx/>
              <a:buChar char="-"/>
            </a:pPr>
            <a:r>
              <a:rPr lang="ko-KR" altLang="en-US" sz="1100" dirty="0"/>
              <a:t>기존 방향성</a:t>
            </a:r>
            <a:endParaRPr lang="en-US" altLang="ko-KR" sz="1100" dirty="0"/>
          </a:p>
          <a:p>
            <a:pPr lvl="1">
              <a:buFontTx/>
              <a:buChar char="-"/>
            </a:pPr>
            <a:r>
              <a:rPr lang="ko-KR" altLang="en-US" sz="1100" dirty="0"/>
              <a:t>다중 문서 프로세스에 일반 사용자가 </a:t>
            </a:r>
            <a:r>
              <a:rPr lang="en-US" altLang="ko-KR" sz="1100" dirty="0"/>
              <a:t>A, </a:t>
            </a:r>
            <a:r>
              <a:rPr lang="ko-KR" altLang="en-US" sz="1100" dirty="0"/>
              <a:t>문서 </a:t>
            </a:r>
            <a:r>
              <a:rPr lang="en-US" altLang="ko-KR" sz="1100" dirty="0"/>
              <a:t>B, </a:t>
            </a:r>
            <a:r>
              <a:rPr lang="ko-KR" altLang="en-US" sz="1100" dirty="0"/>
              <a:t>문서 </a:t>
            </a:r>
            <a:r>
              <a:rPr lang="en-US" altLang="ko-KR" sz="1100" dirty="0"/>
              <a:t>C</a:t>
            </a:r>
            <a:r>
              <a:rPr lang="ko-KR" altLang="en-US" sz="1100" dirty="0"/>
              <a:t>를 던지는 상황을 가정</a:t>
            </a:r>
            <a:endParaRPr lang="en-US" altLang="ko-KR" sz="1100" dirty="0"/>
          </a:p>
          <a:p>
            <a:pPr lvl="1">
              <a:buFontTx/>
              <a:buChar char="-"/>
            </a:pPr>
            <a:r>
              <a:rPr lang="ko-KR" altLang="en-US" sz="1100" dirty="0"/>
              <a:t>사용자는 </a:t>
            </a:r>
            <a:r>
              <a:rPr lang="en-US" altLang="ko-KR" sz="1100" dirty="0"/>
              <a:t>A,B,C</a:t>
            </a:r>
            <a:r>
              <a:rPr lang="ko-KR" altLang="en-US" sz="1100" dirty="0"/>
              <a:t>를 별도로 구별하지 않고 파일 탐색기에서 모두 선택해서 업로드</a:t>
            </a:r>
            <a:endParaRPr lang="en-US" altLang="ko-KR" sz="1100" dirty="0"/>
          </a:p>
          <a:p>
            <a:pPr lvl="1">
              <a:buFontTx/>
              <a:buChar char="-"/>
            </a:pPr>
            <a:r>
              <a:rPr lang="ko-KR" altLang="en-US" sz="1100" dirty="0"/>
              <a:t>그러면 다중문서 프로세스의 문서 처리 단계에서 </a:t>
            </a:r>
            <a:r>
              <a:rPr lang="en-US" altLang="ko-KR" sz="1100" dirty="0" err="1"/>
              <a:t>llm</a:t>
            </a:r>
            <a:r>
              <a:rPr lang="ko-KR" altLang="en-US" sz="1100" dirty="0"/>
              <a:t>이 양식과 내용을 기반으로 각 문서들을 클러스터링</a:t>
            </a:r>
            <a:endParaRPr lang="en-US" altLang="ko-KR" sz="1100" dirty="0"/>
          </a:p>
          <a:p>
            <a:pPr lvl="1">
              <a:buFontTx/>
              <a:buChar char="-"/>
            </a:pPr>
            <a:r>
              <a:rPr lang="en-US" altLang="ko-KR" sz="1100" dirty="0"/>
              <a:t>10</a:t>
            </a:r>
            <a:r>
              <a:rPr lang="ko-KR" altLang="en-US" sz="1100" dirty="0"/>
              <a:t>명이 </a:t>
            </a:r>
            <a:r>
              <a:rPr lang="en-US" altLang="ko-KR" sz="1100" dirty="0"/>
              <a:t>A,B,C</a:t>
            </a:r>
            <a:r>
              <a:rPr lang="ko-KR" altLang="en-US" sz="1100" dirty="0"/>
              <a:t>를 던지면 문서 </a:t>
            </a:r>
            <a:r>
              <a:rPr lang="en-US" altLang="ko-KR" sz="1100" dirty="0"/>
              <a:t>A 10</a:t>
            </a:r>
            <a:r>
              <a:rPr lang="ko-KR" altLang="en-US" sz="1100" dirty="0"/>
              <a:t>개</a:t>
            </a:r>
            <a:r>
              <a:rPr lang="en-US" altLang="ko-KR" sz="1100" dirty="0"/>
              <a:t>, </a:t>
            </a:r>
            <a:r>
              <a:rPr lang="ko-KR" altLang="en-US" sz="1100" dirty="0"/>
              <a:t>문서</a:t>
            </a:r>
            <a:r>
              <a:rPr lang="en-US" altLang="ko-KR" sz="1100" dirty="0"/>
              <a:t> B 10</a:t>
            </a:r>
            <a:r>
              <a:rPr lang="ko-KR" altLang="en-US" sz="1100" dirty="0"/>
              <a:t>개</a:t>
            </a:r>
            <a:r>
              <a:rPr lang="en-US" altLang="ko-KR" sz="1100" dirty="0"/>
              <a:t>, </a:t>
            </a:r>
            <a:r>
              <a:rPr lang="ko-KR" altLang="en-US" sz="1100" dirty="0"/>
              <a:t>문서 </a:t>
            </a:r>
            <a:r>
              <a:rPr lang="en-US" altLang="ko-KR" sz="1100" dirty="0"/>
              <a:t>C 10</a:t>
            </a:r>
            <a:r>
              <a:rPr lang="ko-KR" altLang="en-US" sz="1100" dirty="0"/>
              <a:t>개 로 클러스터링하고 스키마별 </a:t>
            </a:r>
            <a:r>
              <a:rPr lang="en-US" altLang="ko-KR" sz="1100" dirty="0"/>
              <a:t>value</a:t>
            </a:r>
            <a:r>
              <a:rPr lang="ko-KR" altLang="en-US" sz="1100" dirty="0"/>
              <a:t>추출 후 엑셀파일 생성</a:t>
            </a:r>
            <a:endParaRPr lang="en-US" altLang="ko-KR" sz="1100" dirty="0"/>
          </a:p>
          <a:p>
            <a:pPr lvl="1">
              <a:buFontTx/>
              <a:buChar char="-"/>
            </a:pPr>
            <a:endParaRPr lang="en-US" altLang="ko-KR" sz="1100" dirty="0"/>
          </a:p>
          <a:p>
            <a:pPr>
              <a:buFontTx/>
              <a:buChar char="-"/>
            </a:pPr>
            <a:r>
              <a:rPr lang="ko-KR" altLang="en-US" sz="1500" dirty="0"/>
              <a:t>그런데</a:t>
            </a:r>
            <a:r>
              <a:rPr lang="en-US" altLang="ko-KR" sz="1500" dirty="0"/>
              <a:t>, </a:t>
            </a:r>
            <a:r>
              <a:rPr lang="ko-KR" altLang="en-US" sz="1500" dirty="0"/>
              <a:t>사용자가 문서를 올릴 때를 상상해보면</a:t>
            </a:r>
            <a:endParaRPr lang="en-US" altLang="ko-KR" sz="1500" dirty="0"/>
          </a:p>
          <a:p>
            <a:pPr lvl="1">
              <a:buFontTx/>
              <a:buChar char="-"/>
            </a:pPr>
            <a:r>
              <a:rPr lang="ko-KR" altLang="en-US" sz="1100" dirty="0"/>
              <a:t>자신이 제출하고자 하는 프로세스에 요구되는 문서의 종류와 개수를 알면서도</a:t>
            </a:r>
            <a:r>
              <a:rPr lang="en-US" altLang="ko-KR" sz="1100" dirty="0"/>
              <a:t>,</a:t>
            </a:r>
          </a:p>
          <a:p>
            <a:pPr lvl="1">
              <a:buFontTx/>
              <a:buChar char="-"/>
            </a:pPr>
            <a:r>
              <a:rPr lang="ko-KR" altLang="en-US" sz="1100" dirty="0"/>
              <a:t>제출하는 마지막 시점에는 누락 없이 잘 제출하고 있는지 확인하고 싶을 것</a:t>
            </a:r>
            <a:endParaRPr lang="en-US" altLang="ko-KR" sz="1100" dirty="0"/>
          </a:p>
          <a:p>
            <a:pPr lvl="1">
              <a:buFontTx/>
              <a:buChar char="-"/>
            </a:pPr>
            <a:r>
              <a:rPr lang="ko-KR" altLang="en-US" sz="1100" dirty="0"/>
              <a:t>따라서 제출 시점에 한 번에 뭉텅이로 업로드하는 편의성을 채택하기 보다는</a:t>
            </a:r>
            <a:endParaRPr lang="en-US" altLang="ko-KR" sz="1100" dirty="0"/>
          </a:p>
          <a:p>
            <a:pPr lvl="1">
              <a:buFontTx/>
              <a:buChar char="-"/>
            </a:pPr>
            <a:r>
              <a:rPr lang="ko-KR" altLang="en-US" sz="1100" dirty="0"/>
              <a:t>제출 항목별로 명시하고 그에 따라 제출하도록 하는 것이 서비스 신뢰도 측면에서 좋을 것이라고 판단</a:t>
            </a:r>
            <a:endParaRPr lang="en-US" altLang="ko-KR" sz="1100" dirty="0"/>
          </a:p>
        </p:txBody>
      </p:sp>
    </p:spTree>
    <p:extLst>
      <p:ext uri="{BB962C8B-B14F-4D97-AF65-F5344CB8AC3E}">
        <p14:creationId xmlns:p14="http://schemas.microsoft.com/office/powerpoint/2010/main" val="1404194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E57FE9B3-27A3-E508-FE92-72005AE8D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>
            <a:extLst>
              <a:ext uri="{FF2B5EF4-FFF2-40B4-BE49-F238E27FC236}">
                <a16:creationId xmlns:a16="http://schemas.microsoft.com/office/drawing/2014/main" id="{128383F1-1E53-BA1C-27F0-AEE0876217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ko-KR" altLang="en-US" dirty="0"/>
              <a:t>다중 문서 프로세스 플로우 개발</a:t>
            </a:r>
            <a:endParaRPr lang="en-US" altLang="ko-KR" dirty="0"/>
          </a:p>
        </p:txBody>
      </p: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616E3141-E0E4-B135-15F6-A8622421C2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55756" y="925647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FontTx/>
              <a:buChar char="-"/>
            </a:pPr>
            <a:r>
              <a:rPr lang="ko-KR" altLang="en-US" sz="1100" dirty="0"/>
              <a:t>앞서 설명한 방향성으로 구현된 화면</a:t>
            </a:r>
            <a:r>
              <a:rPr lang="en-US" altLang="ko-KR" sz="1100" dirty="0"/>
              <a:t>: </a:t>
            </a:r>
            <a:r>
              <a:rPr lang="ko-KR" altLang="en-US" sz="1100" dirty="0"/>
              <a:t>프로세스 클릭 시</a:t>
            </a:r>
            <a:endParaRPr lang="en-US" altLang="ko-KR" sz="11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70B71BA-6B07-4A33-F876-49C8EB3FA4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351" y="1583950"/>
            <a:ext cx="6053410" cy="3502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9083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9FCC911B-8BB6-C191-2AE1-70B3C6BC2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>
            <a:extLst>
              <a:ext uri="{FF2B5EF4-FFF2-40B4-BE49-F238E27FC236}">
                <a16:creationId xmlns:a16="http://schemas.microsoft.com/office/drawing/2014/main" id="{6B484D9F-A617-3DC9-7C7A-934B78EFE8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ko-KR" altLang="en-US" dirty="0"/>
              <a:t>다중 문서 프로세스 플로우 개발</a:t>
            </a:r>
            <a:endParaRPr lang="en-US" altLang="ko-KR" dirty="0"/>
          </a:p>
        </p:txBody>
      </p: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496AFFF4-3ED6-DFC4-9DD1-D186563110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55756" y="925647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FontTx/>
              <a:buChar char="-"/>
            </a:pPr>
            <a:r>
              <a:rPr lang="ko-KR" altLang="en-US" sz="1100" dirty="0"/>
              <a:t>앞서 설명한 방향성으로 구현된 화면</a:t>
            </a:r>
            <a:r>
              <a:rPr lang="en-US" altLang="ko-KR" sz="1100" dirty="0"/>
              <a:t>: </a:t>
            </a:r>
            <a:r>
              <a:rPr lang="ko-KR" altLang="en-US" sz="1100" dirty="0"/>
              <a:t>각 파일 선택 시</a:t>
            </a:r>
            <a:endParaRPr lang="en-US" altLang="ko-KR" sz="11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A520720-0898-6B26-88CA-E5D641AE3E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369" y="1498347"/>
            <a:ext cx="6193374" cy="355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996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29A81692-EE29-9AF0-D72B-0F6F4A970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>
            <a:extLst>
              <a:ext uri="{FF2B5EF4-FFF2-40B4-BE49-F238E27FC236}">
                <a16:creationId xmlns:a16="http://schemas.microsoft.com/office/drawing/2014/main" id="{95AC2419-D2DF-4DD8-23BE-AA44D5B968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ko-KR" altLang="en-US" dirty="0"/>
              <a:t>다중 문서 프로세스 플로우 개발</a:t>
            </a:r>
            <a:endParaRPr lang="en-US" altLang="ko-KR" dirty="0"/>
          </a:p>
        </p:txBody>
      </p: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EA974403-1DBB-48D0-7818-3C3F535AED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55756" y="925647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FontTx/>
              <a:buChar char="-"/>
            </a:pPr>
            <a:r>
              <a:rPr lang="ko-KR" altLang="en-US" sz="1100" dirty="0"/>
              <a:t>다중 문서 프로세스의 레이아웃 분석 화면</a:t>
            </a:r>
            <a:r>
              <a:rPr lang="en-US" altLang="ko-KR" sz="1100" dirty="0"/>
              <a:t>: </a:t>
            </a:r>
            <a:r>
              <a:rPr lang="ko-KR" altLang="en-US" sz="1100" dirty="0"/>
              <a:t>문서의 여러 개 이므로</a:t>
            </a:r>
            <a:r>
              <a:rPr lang="en-US" altLang="ko-KR" sz="1100" dirty="0"/>
              <a:t>, </a:t>
            </a:r>
            <a:r>
              <a:rPr lang="ko-KR" altLang="en-US" sz="1100" dirty="0"/>
              <a:t>레이아웃 대상 템플릿도 여러 개</a:t>
            </a:r>
            <a:endParaRPr lang="en-US" altLang="ko-KR" sz="11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000609F-592A-B5CE-C631-83B0E77BD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559" y="1577867"/>
            <a:ext cx="6096994" cy="3516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46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103BC351-2723-9603-9278-A1C31DF65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>
            <a:extLst>
              <a:ext uri="{FF2B5EF4-FFF2-40B4-BE49-F238E27FC236}">
                <a16:creationId xmlns:a16="http://schemas.microsoft.com/office/drawing/2014/main" id="{683DD43E-A9E2-C93C-57F6-8999A28CA5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ko-KR" altLang="en-US" dirty="0"/>
              <a:t>다중 문서 프로세스 플로우 개발</a:t>
            </a:r>
            <a:endParaRPr lang="en-US" altLang="ko-KR" dirty="0"/>
          </a:p>
        </p:txBody>
      </p: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79400F6A-4382-FF31-55BC-091B0F4F14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55756" y="925647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FontTx/>
              <a:buChar char="-"/>
            </a:pPr>
            <a:r>
              <a:rPr lang="ko-KR" altLang="en-US" sz="1100" dirty="0"/>
              <a:t>다중 문서 프로세스의 레이아웃 분석 화면</a:t>
            </a:r>
            <a:r>
              <a:rPr lang="en-US" altLang="ko-KR" sz="1100" dirty="0"/>
              <a:t>: </a:t>
            </a:r>
            <a:r>
              <a:rPr lang="ko-KR" altLang="en-US" sz="1100" dirty="0"/>
              <a:t>각 문서 별로 템플릿 업로드 후 레이아웃 분석 또한 각각 실행</a:t>
            </a:r>
            <a:endParaRPr lang="en-US" altLang="ko-KR" sz="11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DED5255-4AA5-F702-7DFF-5FD8CDAD11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2083" y="1657350"/>
            <a:ext cx="5859834" cy="3365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483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DC709B01-5189-F79C-5C6A-9F9E01A39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>
            <a:extLst>
              <a:ext uri="{FF2B5EF4-FFF2-40B4-BE49-F238E27FC236}">
                <a16:creationId xmlns:a16="http://schemas.microsoft.com/office/drawing/2014/main" id="{9B42C434-FBE2-7778-8C0D-C18E890188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ko-KR" altLang="en-US" dirty="0"/>
              <a:t>다중 문서 프로세스 플로우 개발</a:t>
            </a:r>
            <a:endParaRPr lang="en-US" altLang="ko-KR" dirty="0"/>
          </a:p>
        </p:txBody>
      </p: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09B20051-7D26-78D0-E35D-9136D0B0BA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55756" y="925647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FontTx/>
              <a:buChar char="-"/>
            </a:pPr>
            <a:r>
              <a:rPr lang="ko-KR" altLang="en-US" sz="1100" dirty="0"/>
              <a:t>다중 문서 프로세스의 문서 처리 실행 화면</a:t>
            </a:r>
            <a:r>
              <a:rPr lang="en-US" altLang="ko-KR" sz="1100" dirty="0"/>
              <a:t>: XLSX</a:t>
            </a:r>
            <a:r>
              <a:rPr lang="ko-KR" altLang="en-US" sz="1100" dirty="0"/>
              <a:t>과 </a:t>
            </a:r>
            <a:r>
              <a:rPr lang="en-US" altLang="ko-KR" sz="1100" dirty="0"/>
              <a:t>ZIP</a:t>
            </a:r>
            <a:r>
              <a:rPr lang="ko-KR" altLang="en-US" sz="1100" dirty="0"/>
              <a:t>으로 다운로드 가능</a:t>
            </a:r>
            <a:endParaRPr lang="en-US" altLang="ko-KR" sz="11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07FBE67-D1C1-906F-27FE-6C30012734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647" y="1498347"/>
            <a:ext cx="6043790" cy="3474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7959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E35F9055-3652-9172-02D0-D46C2479C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>
            <a:extLst>
              <a:ext uri="{FF2B5EF4-FFF2-40B4-BE49-F238E27FC236}">
                <a16:creationId xmlns:a16="http://schemas.microsoft.com/office/drawing/2014/main" id="{5EE2338E-CF49-D4ED-4523-30AAFA33AB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ko-KR" altLang="en-US" dirty="0"/>
              <a:t>다중 문서 프로세스 플로우 개발</a:t>
            </a:r>
            <a:endParaRPr lang="en-US" altLang="ko-KR" dirty="0"/>
          </a:p>
        </p:txBody>
      </p: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13EAD82E-76E0-821D-180A-52AFCD105A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55756" y="925647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FontTx/>
              <a:buChar char="-"/>
            </a:pPr>
            <a:r>
              <a:rPr lang="ko-KR" altLang="en-US" sz="1100" dirty="0"/>
              <a:t>다중 문서 프로세스의 문서 처리 실행 화면</a:t>
            </a:r>
            <a:r>
              <a:rPr lang="en-US" altLang="ko-KR" sz="1100" dirty="0"/>
              <a:t>: </a:t>
            </a:r>
            <a:r>
              <a:rPr lang="ko-KR" altLang="en-US" sz="1100" dirty="0"/>
              <a:t>문서 종류 수 만큼 시트가 생성</a:t>
            </a:r>
            <a:r>
              <a:rPr lang="en-US" altLang="ko-KR" sz="1100" dirty="0"/>
              <a:t>(</a:t>
            </a:r>
            <a:r>
              <a:rPr lang="ko-KR" altLang="en-US" sz="1100" dirty="0"/>
              <a:t>하단 빨간색 박스</a:t>
            </a:r>
            <a:r>
              <a:rPr lang="en-US" altLang="ko-KR" sz="1100" dirty="0"/>
              <a:t>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3ECAB63-994E-3FD0-F634-DD56CA1651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119" y="1364954"/>
            <a:ext cx="6859874" cy="3681565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28E82002-C09A-E93E-6F10-F4D7BC7C387F}"/>
              </a:ext>
            </a:extLst>
          </p:cNvPr>
          <p:cNvSpPr/>
          <p:nvPr/>
        </p:nvSpPr>
        <p:spPr>
          <a:xfrm>
            <a:off x="951345" y="4821382"/>
            <a:ext cx="1200728" cy="3221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59577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9CEFC63B-C256-5603-3527-A38617A22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>
            <a:extLst>
              <a:ext uri="{FF2B5EF4-FFF2-40B4-BE49-F238E27FC236}">
                <a16:creationId xmlns:a16="http://schemas.microsoft.com/office/drawing/2014/main" id="{93376414-FD6B-55CB-7270-71F6A9DA1D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ko-KR" altLang="en-US" dirty="0"/>
              <a:t>다중 문서 프로세스 플로우 개발</a:t>
            </a:r>
            <a:endParaRPr lang="en-US" altLang="ko-KR" dirty="0"/>
          </a:p>
        </p:txBody>
      </p: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7FDEA59F-863B-25B3-88D6-B7E903905F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55756" y="925647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FontTx/>
              <a:buChar char="-"/>
            </a:pPr>
            <a:r>
              <a:rPr lang="ko-KR" altLang="en-US" sz="1100" dirty="0"/>
              <a:t>다중 문서 프로세스의 문서 처리 실행 화면</a:t>
            </a:r>
            <a:r>
              <a:rPr lang="en-US" altLang="ko-KR" sz="1100" dirty="0"/>
              <a:t>: </a:t>
            </a:r>
            <a:r>
              <a:rPr lang="ko-KR" altLang="en-US" sz="1100" dirty="0"/>
              <a:t>문서 종류 수 만큼 시트가 생성</a:t>
            </a:r>
            <a:r>
              <a:rPr lang="en-US" altLang="ko-KR" sz="1100" dirty="0"/>
              <a:t>(</a:t>
            </a:r>
            <a:r>
              <a:rPr lang="ko-KR" altLang="en-US" sz="1100" dirty="0"/>
              <a:t>하단 빨간색 박스</a:t>
            </a:r>
            <a:r>
              <a:rPr lang="en-US" altLang="ko-KR" sz="1100" dirty="0"/>
              <a:t>)</a:t>
            </a:r>
          </a:p>
          <a:p>
            <a:pPr>
              <a:buFontTx/>
              <a:buChar char="-"/>
            </a:pPr>
            <a:r>
              <a:rPr lang="ko-KR" altLang="en-US" sz="1100" dirty="0"/>
              <a:t>스키마에 대해 </a:t>
            </a:r>
            <a:r>
              <a:rPr lang="en-US" altLang="ko-KR" sz="1100" dirty="0"/>
              <a:t>value </a:t>
            </a:r>
            <a:r>
              <a:rPr lang="ko-KR" altLang="en-US" sz="1100" dirty="0"/>
              <a:t>추출이 불완전한 부분이 존재</a:t>
            </a:r>
            <a:r>
              <a:rPr lang="en-US" altLang="ko-KR" sz="1100" dirty="0"/>
              <a:t>(</a:t>
            </a:r>
            <a:r>
              <a:rPr lang="ko-KR" altLang="en-US" sz="1100" dirty="0"/>
              <a:t>성능 개선 필요</a:t>
            </a:r>
            <a:r>
              <a:rPr lang="en-US" altLang="ko-KR" sz="1100" dirty="0"/>
              <a:t>): </a:t>
            </a:r>
            <a:r>
              <a:rPr lang="ko-KR" altLang="en-US" sz="1100" dirty="0"/>
              <a:t>파란색 박스</a:t>
            </a:r>
            <a:endParaRPr lang="en-US" altLang="ko-KR" sz="11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737A20A-C224-86AC-3B7E-0D45FFFA9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1394549"/>
            <a:ext cx="6698512" cy="3607703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DE15989E-9330-C96F-D23A-10E5A5A01FBB}"/>
              </a:ext>
            </a:extLst>
          </p:cNvPr>
          <p:cNvSpPr/>
          <p:nvPr/>
        </p:nvSpPr>
        <p:spPr>
          <a:xfrm>
            <a:off x="951345" y="4821382"/>
            <a:ext cx="1200728" cy="3221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6853CDA-4D56-3C9C-82F8-F63DABA95911}"/>
              </a:ext>
            </a:extLst>
          </p:cNvPr>
          <p:cNvSpPr/>
          <p:nvPr/>
        </p:nvSpPr>
        <p:spPr>
          <a:xfrm>
            <a:off x="5734224" y="1938187"/>
            <a:ext cx="2031088" cy="284018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85506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24E6EEB2-CCF6-0411-DC75-B1CD9EC9A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>
            <a:extLst>
              <a:ext uri="{FF2B5EF4-FFF2-40B4-BE49-F238E27FC236}">
                <a16:creationId xmlns:a16="http://schemas.microsoft.com/office/drawing/2014/main" id="{9EA9C628-A613-8DE7-4F31-DAA1BA0AB6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ko-KR" altLang="en-US" dirty="0"/>
              <a:t>다중 문서 프로세스 플로우 개발</a:t>
            </a:r>
            <a:endParaRPr lang="en-US" altLang="ko-KR" dirty="0"/>
          </a:p>
        </p:txBody>
      </p: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A1C93D6B-5C07-8B29-63E3-54631C4336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55756" y="925647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FontTx/>
              <a:buChar char="-"/>
            </a:pPr>
            <a:r>
              <a:rPr lang="ko-KR" altLang="en-US" sz="1100" dirty="0"/>
              <a:t>다중 문서 프로세스의 문서 처리 실행 화면</a:t>
            </a:r>
            <a:r>
              <a:rPr lang="en-US" altLang="ko-KR" sz="1100" dirty="0"/>
              <a:t>: ZIP </a:t>
            </a:r>
            <a:r>
              <a:rPr lang="ko-KR" altLang="en-US" sz="1100" dirty="0"/>
              <a:t>파일의 내부</a:t>
            </a:r>
            <a:endParaRPr lang="en-US" altLang="ko-KR" sz="1100" dirty="0"/>
          </a:p>
          <a:p>
            <a:pPr>
              <a:buFontTx/>
              <a:buChar char="-"/>
            </a:pPr>
            <a:r>
              <a:rPr lang="ko-KR" altLang="en-US" sz="1100" dirty="0"/>
              <a:t>사전에 정의한 문서 종류에 따라 디렉토리 분리</a:t>
            </a:r>
            <a:endParaRPr lang="en-US" altLang="ko-KR" sz="11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EB7B750-20B8-1126-2B2D-4E0CB50B68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528" y="2057400"/>
            <a:ext cx="5345788" cy="303293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5760D25-5DFA-89E0-22F9-9948BED926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9743" y="3327422"/>
            <a:ext cx="4056613" cy="149524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595129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차주 상세 계획</a:t>
            </a:r>
            <a:endParaRPr dirty="0"/>
          </a:p>
        </p:txBody>
      </p:sp>
      <p:sp>
        <p:nvSpPr>
          <p:cNvPr id="170" name="Google Shape;170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altLang="ko" dirty="0"/>
              <a:t>5</a:t>
            </a:r>
            <a:r>
              <a:rPr lang="ko" dirty="0"/>
              <a:t>월 </a:t>
            </a:r>
            <a:r>
              <a:rPr lang="en-US" altLang="ko" dirty="0"/>
              <a:t>3</a:t>
            </a:r>
            <a:r>
              <a:rPr lang="ko" dirty="0"/>
              <a:t>주차</a:t>
            </a:r>
            <a:endParaRPr lang="en-US" altLang="ko" dirty="0"/>
          </a:p>
          <a:p>
            <a:pPr lvl="1" indent="-342900">
              <a:buSzPts val="1800"/>
              <a:buChar char="●"/>
            </a:pPr>
            <a:r>
              <a:rPr lang="ko-KR" altLang="en-US" dirty="0"/>
              <a:t>목표</a:t>
            </a:r>
            <a:r>
              <a:rPr lang="en-US" altLang="ko-KR" dirty="0"/>
              <a:t>: </a:t>
            </a:r>
          </a:p>
          <a:p>
            <a:pPr lvl="2" indent="-342900">
              <a:buSzPts val="1800"/>
            </a:pPr>
            <a:r>
              <a:rPr lang="en-US" altLang="ko" dirty="0"/>
              <a:t>UI/UX </a:t>
            </a:r>
            <a:r>
              <a:rPr lang="ko-KR" altLang="en-US" dirty="0"/>
              <a:t>개선 적용</a:t>
            </a:r>
            <a:r>
              <a:rPr lang="en-US" altLang="ko-KR" dirty="0"/>
              <a:t>(</a:t>
            </a:r>
            <a:r>
              <a:rPr lang="ko-KR" altLang="en-US" dirty="0"/>
              <a:t>계속</a:t>
            </a:r>
            <a:r>
              <a:rPr lang="en-US" altLang="ko-KR" dirty="0"/>
              <a:t>)</a:t>
            </a:r>
          </a:p>
          <a:p>
            <a:pPr lvl="2" indent="-342900">
              <a:buSzPts val="1800"/>
            </a:pPr>
            <a:r>
              <a:rPr lang="ko-KR" altLang="en-US" dirty="0"/>
              <a:t>현재 더미데이터로 구현되어 있는 메인 화면의 공지사항 등을 담을 수 있는 </a:t>
            </a:r>
            <a:r>
              <a:rPr lang="en-US" altLang="ko-KR" dirty="0"/>
              <a:t>DB </a:t>
            </a:r>
            <a:r>
              <a:rPr lang="ko-KR" altLang="en-US" dirty="0"/>
              <a:t>테이블 생성</a:t>
            </a:r>
            <a:endParaRPr lang="en-US" altLang="ko-KR" dirty="0"/>
          </a:p>
          <a:p>
            <a:pPr lvl="2" indent="-342900">
              <a:buSzPts val="1800"/>
            </a:pPr>
            <a:r>
              <a:rPr lang="ko-KR" altLang="en-US" dirty="0"/>
              <a:t>공지사항 </a:t>
            </a:r>
            <a:r>
              <a:rPr lang="en-US" altLang="ko-KR" dirty="0"/>
              <a:t>CRUD</a:t>
            </a:r>
            <a:r>
              <a:rPr lang="ko-KR" altLang="en-US" dirty="0"/>
              <a:t>가 가능한 간단한 관리자 페이지 </a:t>
            </a:r>
            <a:r>
              <a:rPr lang="en-US" altLang="ko-KR" dirty="0"/>
              <a:t>UI </a:t>
            </a:r>
            <a:r>
              <a:rPr lang="ko-KR" altLang="en-US" dirty="0"/>
              <a:t>개발</a:t>
            </a:r>
            <a:endParaRPr lang="en-US" altLang="ko-KR" dirty="0"/>
          </a:p>
          <a:p>
            <a:pPr lvl="2" indent="-342900">
              <a:buSzPts val="1800"/>
            </a:pPr>
            <a:r>
              <a:rPr lang="ko-KR" altLang="en-US" dirty="0"/>
              <a:t>레이아웃 분석 기능 개선</a:t>
            </a:r>
            <a:r>
              <a:rPr lang="en-US" altLang="ko-KR" dirty="0"/>
              <a:t>&amp;</a:t>
            </a:r>
            <a:r>
              <a:rPr lang="ko-KR" altLang="en-US" dirty="0"/>
              <a:t>스키마별 </a:t>
            </a:r>
            <a:r>
              <a:rPr lang="en-US" altLang="ko-KR" dirty="0"/>
              <a:t>Value </a:t>
            </a:r>
            <a:r>
              <a:rPr lang="ko-KR" altLang="en-US" dirty="0"/>
              <a:t>추출 기능 개선 방안 모색</a:t>
            </a:r>
            <a:endParaRPr lang="en-US" altLang="ko-KR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4"/>
          <p:cNvSpPr txBox="1">
            <a:spLocks noGrp="1"/>
          </p:cNvSpPr>
          <p:nvPr>
            <p:ph type="body" idx="1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끝</a:t>
            </a:r>
            <a:endParaRPr/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감사합니다.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1079</TotalTime>
  <Words>556</Words>
  <Application>Microsoft Office PowerPoint</Application>
  <PresentationFormat>화면 슬라이드 쇼(16:9)</PresentationFormat>
  <Paragraphs>69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19" baseType="lpstr">
      <vt:lpstr>Arial</vt:lpstr>
      <vt:lpstr>Simple Light</vt:lpstr>
      <vt:lpstr>260507</vt:lpstr>
      <vt:lpstr>지난 발표 주요 내용 정리</vt:lpstr>
      <vt:lpstr>오늘 발표 주요 내용</vt:lpstr>
      <vt:lpstr>UI/UX 개선 현황</vt:lpstr>
      <vt:lpstr>UI/UX 개선 현황</vt:lpstr>
      <vt:lpstr>UI/UX 개선 현황</vt:lpstr>
      <vt:lpstr>다중 문서 프로세스 플로우 개발</vt:lpstr>
      <vt:lpstr>다중 문서 프로세스 플로우 개발</vt:lpstr>
      <vt:lpstr>다중 문서 프로세스 플로우 개발</vt:lpstr>
      <vt:lpstr>다중 문서 프로세스 플로우 개발</vt:lpstr>
      <vt:lpstr>다중 문서 프로세스 플로우 개발</vt:lpstr>
      <vt:lpstr>다중 문서 프로세스 플로우 개발</vt:lpstr>
      <vt:lpstr>다중 문서 프로세스 플로우 개발</vt:lpstr>
      <vt:lpstr>다중 문서 프로세스 플로우 개발</vt:lpstr>
      <vt:lpstr>다중 문서 프로세스 플로우 개발</vt:lpstr>
      <vt:lpstr>차주 상세 계획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WoongHee Lee</cp:lastModifiedBy>
  <cp:revision>112</cp:revision>
  <dcterms:modified xsi:type="dcterms:W3CDTF">2026-05-07T09:28:07Z</dcterms:modified>
</cp:coreProperties>
</file>