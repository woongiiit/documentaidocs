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9" r:id="rId10"/>
    <p:sldId id="263" r:id="rId11"/>
    <p:sldId id="264" r:id="rId12"/>
    <p:sldId id="265" r:id="rId13"/>
    <p:sldId id="266" r:id="rId14"/>
    <p:sldId id="270" r:id="rId15"/>
    <p:sldId id="267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3BBA"/>
    <a:srgbClr val="00E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656" y="8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7253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FC2BF-E96E-D96A-F3BD-F82A4515A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B10A3D-C316-48CE-17FD-3DED2EDF7F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84FF5D-40F7-23EE-D09C-8FD785CFD8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9F792D-D539-A2C5-FE73-9B0BBA2A47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370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7EAA1-E2FC-CEEF-62C1-87F92EEAC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18E533-07E3-4C91-6460-927CEDB820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F72635-78A2-45DD-0AAD-94D4AEC0C9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0DF77-50C7-52C0-7729-9602741A45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4726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26946-B290-0F6C-670A-E65A590DF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A520E5-1761-646A-3EDC-1974ECEF28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4EDCB0-E3F6-FBA9-1687-1D7E41B09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49003-8F80-0ECF-F705-8A59B3C65D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0668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1E222-D728-BA89-B7CF-36E434371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5F987B-2B1E-8D76-549A-429B35DDF4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4F6D1C-AA57-3930-0134-C8C7D693C7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F8F5E-AF2D-F4C6-7E4E-30BFD8B228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6075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FFA0C-E401-C40D-1C42-22F987F27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26920B-D238-B4C4-F01D-8C5FD4D310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D29CBE-C435-F513-6B12-30E22E8BAE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8CAB55-E7F6-0483-2702-D44318FF08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869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465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DONGCOMDOCS PROJECT</a:t>
            </a:r>
            <a:endParaRPr lang="en-US" sz="660" dirty="0"/>
          </a:p>
        </p:txBody>
      </p:sp>
      <p:sp>
        <p:nvSpPr>
          <p:cNvPr id="4" name="Text 1"/>
          <p:cNvSpPr/>
          <p:nvPr/>
        </p:nvSpPr>
        <p:spPr>
          <a:xfrm>
            <a:off x="10195560" y="64465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MIN PRESENTATION</a:t>
            </a:r>
            <a:endParaRPr lang="en-US" sz="660" dirty="0"/>
          </a:p>
        </p:txBody>
      </p:sp>
      <p:sp>
        <p:nvSpPr>
          <p:cNvPr id="5" name="Text 2"/>
          <p:cNvSpPr/>
          <p:nvPr/>
        </p:nvSpPr>
        <p:spPr>
          <a:xfrm>
            <a:off x="4160520" y="78638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2026-1 개별연구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160520" y="1143000"/>
            <a:ext cx="38862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182880" y="1828800"/>
            <a:ext cx="11823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Week15: </a:t>
            </a:r>
            <a:r>
              <a:rPr lang="ko-KR" alt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최종발표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1508760" y="2770632"/>
            <a:ext cx="9235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800" b="1" dirty="0">
                <a:solidFill>
                  <a:srgbClr val="FF48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사무프로세스 자동화를 위한 주요 모듈 및 </a:t>
            </a:r>
            <a:r>
              <a:rPr lang="en-US" altLang="ko-KR" b="1" dirty="0">
                <a:solidFill>
                  <a:srgbClr val="FF48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UI/UX </a:t>
            </a:r>
            <a:r>
              <a:rPr lang="ko-KR" altLang="en-US" b="1" dirty="0">
                <a:solidFill>
                  <a:srgbClr val="FF48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개선연구</a:t>
            </a:r>
            <a:endParaRPr lang="en-US" sz="180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162D02F5-53C1-6F9E-B470-08770A4A6E47}"/>
              </a:ext>
            </a:extLst>
          </p:cNvPr>
          <p:cNvSpPr/>
          <p:nvPr/>
        </p:nvSpPr>
        <p:spPr>
          <a:xfrm>
            <a:off x="4241332" y="4382320"/>
            <a:ext cx="3797768" cy="0"/>
          </a:xfrm>
          <a:prstGeom prst="line">
            <a:avLst/>
          </a:prstGeom>
          <a:noFill/>
          <a:ln w="13970">
            <a:solidFill>
              <a:srgbClr val="EFEA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35CAF159-8D7C-5293-77E5-235DB3436DF1}"/>
              </a:ext>
            </a:extLst>
          </p:cNvPr>
          <p:cNvSpPr/>
          <p:nvPr/>
        </p:nvSpPr>
        <p:spPr>
          <a:xfrm>
            <a:off x="3631732" y="4663206"/>
            <a:ext cx="4989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이웅희</a:t>
            </a: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동국대학교 공과대학 컴퓨터공학전공</a:t>
            </a:r>
            <a:endParaRPr lang="en-US" sz="15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8DB0833D-0F8E-6F43-FA58-7E63D1AE17A1}"/>
              </a:ext>
            </a:extLst>
          </p:cNvPr>
          <p:cNvSpPr/>
          <p:nvPr/>
        </p:nvSpPr>
        <p:spPr>
          <a:xfrm>
            <a:off x="5134356" y="5719689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9D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2026. 06. 10</a:t>
            </a:r>
            <a:endParaRPr lang="en-US" sz="1150" dirty="0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CEDC2D5D-2AD9-A20F-7ED2-2CD9A1CE96E2}"/>
              </a:ext>
            </a:extLst>
          </p:cNvPr>
          <p:cNvSpPr/>
          <p:nvPr/>
        </p:nvSpPr>
        <p:spPr>
          <a:xfrm>
            <a:off x="4152900" y="685800"/>
            <a:ext cx="38862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465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DONGCOMDOCS PROJECT</a:t>
            </a:r>
            <a:endParaRPr lang="en-US" sz="660" dirty="0"/>
          </a:p>
        </p:txBody>
      </p:sp>
      <p:sp>
        <p:nvSpPr>
          <p:cNvPr id="4" name="Text 1"/>
          <p:cNvSpPr/>
          <p:nvPr/>
        </p:nvSpPr>
        <p:spPr>
          <a:xfrm>
            <a:off x="10195560" y="64465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</a:t>
            </a:r>
            <a:endParaRPr lang="en-US" sz="660" dirty="0"/>
          </a:p>
        </p:txBody>
      </p:sp>
      <p:sp>
        <p:nvSpPr>
          <p:cNvPr id="6" name="Text 3"/>
          <p:cNvSpPr/>
          <p:nvPr/>
        </p:nvSpPr>
        <p:spPr>
          <a:xfrm>
            <a:off x="868680" y="74980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Agenda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868679" y="1335024"/>
            <a:ext cx="2009335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868680" y="2441448"/>
            <a:ext cx="9966960" cy="0"/>
          </a:xfrm>
          <a:prstGeom prst="line">
            <a:avLst/>
          </a:prstGeom>
          <a:noFill/>
          <a:ln w="7620">
            <a:solidFill>
              <a:srgbClr val="2A23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960120" y="184708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874520" y="182880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배경 및</a:t>
            </a:r>
            <a:r>
              <a:rPr 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프로젝트 목표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440680" y="1874520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00" dirty="0">
                <a:solidFill>
                  <a:schemeClr val="accent4">
                    <a:lumMod val="60000"/>
                    <a:lumOff val="4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</a:t>
            </a:r>
            <a:r>
              <a:rPr lang="en-US" sz="1200" dirty="0">
                <a:solidFill>
                  <a:schemeClr val="accent4">
                    <a:lumMod val="60000"/>
                    <a:lumOff val="4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</a:t>
            </a:r>
            <a:r>
              <a:rPr lang="ko-KR" altLang="en-US" sz="1200" dirty="0">
                <a:solidFill>
                  <a:schemeClr val="accent4">
                    <a:lumMod val="60000"/>
                    <a:lumOff val="4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r>
              <a:rPr lang="en-US" sz="1200" dirty="0">
                <a:solidFill>
                  <a:schemeClr val="accent4">
                    <a:lumMod val="60000"/>
                    <a:lumOff val="4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dirty="0">
                <a:solidFill>
                  <a:schemeClr val="accent4">
                    <a:lumMod val="60000"/>
                    <a:lumOff val="4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상이한 정형 문서의 처리 프로세스 </a:t>
            </a:r>
            <a:r>
              <a:rPr lang="en-US" sz="12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플랫폼화</a:t>
            </a:r>
            <a:r>
              <a:rPr lang="en-US" sz="1200" dirty="0">
                <a:solidFill>
                  <a:schemeClr val="accent4">
                    <a:lumMod val="60000"/>
                    <a:lumOff val="4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dirty="0">
                <a:solidFill>
                  <a:schemeClr val="accent4">
                    <a:lumMod val="60000"/>
                    <a:lumOff val="4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</a:t>
            </a:r>
            <a:endParaRPr lang="en-US" sz="12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868680" y="3282696"/>
            <a:ext cx="9966960" cy="0"/>
          </a:xfrm>
          <a:prstGeom prst="line">
            <a:avLst/>
          </a:prstGeom>
          <a:noFill/>
          <a:ln w="7620">
            <a:solidFill>
              <a:srgbClr val="2A23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960120" y="268833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874520" y="267004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 소개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440679" y="2715768"/>
            <a:ext cx="58337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00" dirty="0">
                <a:solidFill>
                  <a:schemeClr val="accent4">
                    <a:lumMod val="60000"/>
                    <a:lumOff val="4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프로세스 등록</a:t>
            </a:r>
            <a:r>
              <a:rPr lang="en-US" altLang="ko-KR" sz="1200" dirty="0">
                <a:solidFill>
                  <a:schemeClr val="accent4">
                    <a:lumMod val="60000"/>
                    <a:lumOff val="4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dirty="0">
                <a:solidFill>
                  <a:schemeClr val="accent4">
                    <a:lumMod val="60000"/>
                    <a:lumOff val="4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</a:t>
            </a:r>
            <a:r>
              <a:rPr lang="en-US" altLang="ko-KR" sz="1200" dirty="0">
                <a:solidFill>
                  <a:schemeClr val="accent4">
                    <a:lumMod val="60000"/>
                    <a:lumOff val="4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dirty="0">
                <a:solidFill>
                  <a:schemeClr val="accent4">
                    <a:lumMod val="60000"/>
                    <a:lumOff val="4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레이아웃 분석</a:t>
            </a:r>
            <a:r>
              <a:rPr lang="en-US" altLang="ko-KR" sz="1200" dirty="0">
                <a:solidFill>
                  <a:schemeClr val="accent4">
                    <a:lumMod val="60000"/>
                    <a:lumOff val="4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dirty="0">
                <a:solidFill>
                  <a:schemeClr val="accent4">
                    <a:lumMod val="60000"/>
                    <a:lumOff val="4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분석 실행</a:t>
            </a:r>
            <a:r>
              <a:rPr lang="en-US" altLang="ko-KR" sz="1200" dirty="0">
                <a:solidFill>
                  <a:schemeClr val="accent4">
                    <a:lumMod val="60000"/>
                    <a:lumOff val="4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dirty="0">
                <a:solidFill>
                  <a:schemeClr val="accent4">
                    <a:lumMod val="60000"/>
                    <a:lumOff val="4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산출 및 저장까지의 흐름</a:t>
            </a:r>
            <a:endParaRPr lang="en-US" sz="12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68680" y="4123944"/>
            <a:ext cx="9966960" cy="0"/>
          </a:xfrm>
          <a:prstGeom prst="line">
            <a:avLst/>
          </a:prstGeom>
          <a:noFill/>
          <a:ln w="7620">
            <a:solidFill>
              <a:srgbClr val="2A23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960120" y="35295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300" dirty="0">
              <a:solidFill>
                <a:srgbClr val="00E5FF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1874520" y="3511296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AI 모듈 구현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440680" y="3557016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accent4">
                    <a:lumMod val="60000"/>
                    <a:lumOff val="4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 레이아웃 분석, 다중 분석 엔진, docType 분류와 필드 추출</a:t>
            </a:r>
            <a:endParaRPr lang="en-US" sz="12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Shape 17"/>
          <p:cNvSpPr/>
          <p:nvPr/>
        </p:nvSpPr>
        <p:spPr>
          <a:xfrm>
            <a:off x="868680" y="4965192"/>
            <a:ext cx="9966960" cy="0"/>
          </a:xfrm>
          <a:prstGeom prst="line">
            <a:avLst/>
          </a:prstGeom>
          <a:noFill/>
          <a:ln w="7620">
            <a:solidFill>
              <a:srgbClr val="2A23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960120" y="437083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874520" y="435254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구현과 배포</a:t>
            </a: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5440680" y="4398264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accent4">
                    <a:lumMod val="60000"/>
                    <a:lumOff val="4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React/Express/Prisma/PostgreSQL 기반 구조와 Railway </a:t>
            </a:r>
            <a:r>
              <a:rPr lang="en-US" sz="12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12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" name="Shape 21"/>
          <p:cNvSpPr/>
          <p:nvPr/>
        </p:nvSpPr>
        <p:spPr>
          <a:xfrm>
            <a:off x="868680" y="5806440"/>
            <a:ext cx="9966960" cy="0"/>
          </a:xfrm>
          <a:prstGeom prst="line">
            <a:avLst/>
          </a:prstGeom>
          <a:noFill/>
          <a:ln w="7620">
            <a:solidFill>
              <a:srgbClr val="2A23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960120" y="52120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874520" y="519379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 연구 로드맵</a:t>
            </a: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5440680" y="5239512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accent4">
                    <a:lumMod val="60000"/>
                    <a:lumOff val="4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편집 UI, 분석 방식별 평가 파이프라인, 사용자 평가 시스템</a:t>
            </a:r>
            <a:endParaRPr lang="en-US" sz="12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465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DONGCOMDOCS PROJECT</a:t>
            </a:r>
            <a:endParaRPr lang="en-US" sz="660" dirty="0"/>
          </a:p>
        </p:txBody>
      </p:sp>
      <p:sp>
        <p:nvSpPr>
          <p:cNvPr id="4" name="Text 1"/>
          <p:cNvSpPr/>
          <p:nvPr/>
        </p:nvSpPr>
        <p:spPr>
          <a:xfrm>
            <a:off x="10195560" y="64465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</a:t>
            </a:r>
            <a:endParaRPr lang="en-US" sz="660" dirty="0"/>
          </a:p>
        </p:txBody>
      </p:sp>
      <p:sp>
        <p:nvSpPr>
          <p:cNvPr id="5" name="Text 2"/>
          <p:cNvSpPr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68680" y="85953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01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68680" y="1170432"/>
            <a:ext cx="1311812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68680" y="1993392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배경 및</a:t>
            </a: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프로젝트 목표</a:t>
            </a:r>
            <a:endParaRPr lang="en-US" sz="2900" dirty="0"/>
          </a:p>
        </p:txBody>
      </p:sp>
      <p:sp>
        <p:nvSpPr>
          <p:cNvPr id="9" name="Text 6"/>
          <p:cNvSpPr/>
          <p:nvPr/>
        </p:nvSpPr>
        <p:spPr>
          <a:xfrm>
            <a:off x="868680" y="28346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FF48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업무별로 상이한 정형 문서의 처리 프로세스 플랫폼화 배경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68680" y="3401568"/>
            <a:ext cx="105156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465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DONGCOMDOCS PROJECT</a:t>
            </a:r>
            <a:endParaRPr lang="en-US" sz="660" dirty="0"/>
          </a:p>
        </p:txBody>
      </p:sp>
      <p:sp>
        <p:nvSpPr>
          <p:cNvPr id="4" name="Text 1"/>
          <p:cNvSpPr/>
          <p:nvPr/>
        </p:nvSpPr>
        <p:spPr>
          <a:xfrm>
            <a:off x="10195560" y="64465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</a:t>
            </a:r>
            <a:endParaRPr lang="en-US" sz="660" dirty="0"/>
          </a:p>
        </p:txBody>
      </p:sp>
      <p:sp>
        <p:nvSpPr>
          <p:cNvPr id="5" name="Text 2"/>
          <p:cNvSpPr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68680" y="74980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배경 및 프로젝트 목표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68679" y="2630190"/>
            <a:ext cx="5672797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</a:t>
            </a:r>
            <a:r>
              <a:rPr lang="ko-KR" alt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다양한 정형 문서들의 </a:t>
            </a:r>
            <a:r>
              <a:rPr lang="ko-KR" alt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레이아웃 분석</a:t>
            </a:r>
            <a:r>
              <a:rPr lang="ko-KR" alt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및 </a:t>
            </a:r>
            <a:r>
              <a:rPr lang="ko-KR" alt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추출</a:t>
            </a:r>
            <a:r>
              <a:rPr lang="en-US" altLang="ko-KR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2000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r>
              <a:rPr lang="ko-KR" altLang="en-US" sz="20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까지를</a:t>
            </a:r>
            <a:r>
              <a:rPr lang="ko-KR" alt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하나의 플로우로 만들어서</a:t>
            </a:r>
            <a:r>
              <a:rPr lang="en-US" altLang="ko-KR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제출부터 결과 산출까지 단일 웹 시스템</a:t>
            </a:r>
            <a:r>
              <a:rPr lang="en-US" altLang="ko-KR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하에서 동작하도록 만들자</a:t>
            </a: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”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3675888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6812280" y="1783080"/>
            <a:ext cx="0" cy="3429000"/>
          </a:xfrm>
          <a:prstGeom prst="line">
            <a:avLst/>
          </a:prstGeom>
          <a:noFill/>
          <a:ln w="10160">
            <a:solidFill>
              <a:srgbClr val="D23BBA"/>
            </a:solidFill>
            <a:prstDash val="solid"/>
          </a:ln>
        </p:spPr>
        <p:txBody>
          <a:bodyPr/>
          <a:lstStyle/>
          <a:p>
            <a:endParaRPr lang="ko-KR" altLang="en-US" dirty="0">
              <a:highlight>
                <a:srgbClr val="00FFFF"/>
              </a:highlight>
            </a:endParaRPr>
          </a:p>
        </p:txBody>
      </p:sp>
      <p:sp>
        <p:nvSpPr>
          <p:cNvPr id="12" name="Text 9"/>
          <p:cNvSpPr/>
          <p:nvPr/>
        </p:nvSpPr>
        <p:spPr>
          <a:xfrm>
            <a:off x="7315200" y="1874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00E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180" dirty="0"/>
          </a:p>
        </p:txBody>
      </p:sp>
      <p:sp>
        <p:nvSpPr>
          <p:cNvPr id="13" name="Text 10"/>
          <p:cNvSpPr/>
          <p:nvPr/>
        </p:nvSpPr>
        <p:spPr>
          <a:xfrm>
            <a:off x="8046720" y="189280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학사 서류업무 편의성 증가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046719" y="2240280"/>
            <a:ext cx="3383277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</a:rPr>
              <a:t>장학</a:t>
            </a:r>
            <a:r>
              <a:rPr lang="en-US" altLang="ko-KR" sz="110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110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</a:rPr>
              <a:t>현장실습</a:t>
            </a:r>
            <a:r>
              <a:rPr lang="en-US" altLang="ko-KR" sz="110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110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</a:rPr>
              <a:t>대학원 연계 과정 등 다양한 서류 제출을 동반하는 업무들에 소요되는 시간</a:t>
            </a:r>
            <a:r>
              <a:rPr lang="en-US" altLang="ko-KR" sz="110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110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</a:rPr>
              <a:t>자원 절약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315200" y="29535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FF48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8046720" y="29718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재학생 입장에서의 편의성 증가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046719" y="3319272"/>
            <a:ext cx="3383277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서류 제출 시 활용하던 메일 방식에 비해 </a:t>
            </a:r>
            <a:r>
              <a:rPr lang="ko-KR" altLang="en-US" sz="1100" dirty="0" err="1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오발송</a:t>
            </a:r>
            <a:r>
              <a:rPr lang="ko-KR" altLang="en-US" sz="110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및 서류 누락 가능성을 배제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315200" y="403250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FFC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80" dirty="0"/>
          </a:p>
        </p:txBody>
      </p:sp>
      <p:sp>
        <p:nvSpPr>
          <p:cNvPr id="19" name="Text 16"/>
          <p:cNvSpPr/>
          <p:nvPr/>
        </p:nvSpPr>
        <p:spPr>
          <a:xfrm>
            <a:off x="8046720" y="40507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활용 가능성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046719" y="4398264"/>
            <a:ext cx="3383277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모니터링 대시보드로부터 각 프로세스 별로 참여인원현황</a:t>
            </a:r>
            <a:r>
              <a:rPr lang="en-US" altLang="ko-KR" sz="110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0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 데이터를 손쉽게 파악 가능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84209-3FE6-1E96-66FA-003237F51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unzip/ppt/media/image1.png">
            <a:extLst>
              <a:ext uri="{FF2B5EF4-FFF2-40B4-BE49-F238E27FC236}">
                <a16:creationId xmlns:a16="http://schemas.microsoft.com/office/drawing/2014/main" id="{37A0FB13-1B3E-9DE3-E0DB-EB3E8F483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66D18A2-23AF-1990-C9B1-C6C35195394B}"/>
              </a:ext>
            </a:extLst>
          </p:cNvPr>
          <p:cNvSpPr/>
          <p:nvPr/>
        </p:nvSpPr>
        <p:spPr>
          <a:xfrm>
            <a:off x="502920" y="64465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DONGCOMDOCS PROJECT</a:t>
            </a:r>
            <a:endParaRPr lang="en-US" sz="66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6E1EEAF-AB9C-CBF9-99B1-1D2AAB58D7D2}"/>
              </a:ext>
            </a:extLst>
          </p:cNvPr>
          <p:cNvSpPr/>
          <p:nvPr/>
        </p:nvSpPr>
        <p:spPr>
          <a:xfrm>
            <a:off x="10195560" y="64465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</a:t>
            </a:r>
            <a:endParaRPr lang="en-US" sz="66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DC55F5C-1C9E-2C02-33FB-EF1C6DA9D49D}"/>
              </a:ext>
            </a:extLst>
          </p:cNvPr>
          <p:cNvSpPr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67CF00F-CDAB-1504-BA27-FCD317F3B39B}"/>
              </a:ext>
            </a:extLst>
          </p:cNvPr>
          <p:cNvSpPr/>
          <p:nvPr/>
        </p:nvSpPr>
        <p:spPr>
          <a:xfrm>
            <a:off x="868680" y="85953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02</a:t>
            </a:r>
            <a:endParaRPr lang="en-US" sz="13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6F20B128-0536-3E6F-4F4E-565BE545BECC}"/>
              </a:ext>
            </a:extLst>
          </p:cNvPr>
          <p:cNvSpPr/>
          <p:nvPr/>
        </p:nvSpPr>
        <p:spPr>
          <a:xfrm>
            <a:off x="868680" y="1170432"/>
            <a:ext cx="1311812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73FDB9C-6C03-FE5F-3970-8D124B0D9D0D}"/>
              </a:ext>
            </a:extLst>
          </p:cNvPr>
          <p:cNvSpPr/>
          <p:nvPr/>
        </p:nvSpPr>
        <p:spPr>
          <a:xfrm>
            <a:off x="868680" y="1993392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 소개</a:t>
            </a:r>
            <a:endParaRPr lang="en-US" sz="29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FAB5385-1E38-D39E-2932-1ED60997040C}"/>
              </a:ext>
            </a:extLst>
          </p:cNvPr>
          <p:cNvSpPr/>
          <p:nvPr/>
        </p:nvSpPr>
        <p:spPr>
          <a:xfrm>
            <a:off x="868680" y="28346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FF48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프로세스 등록</a:t>
            </a:r>
            <a:r>
              <a:rPr lang="en-US" altLang="ko-KR" sz="1350" b="1" dirty="0">
                <a:solidFill>
                  <a:srgbClr val="FF48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350" b="1" dirty="0">
                <a:solidFill>
                  <a:srgbClr val="FF48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</a:t>
            </a:r>
            <a:r>
              <a:rPr lang="en-US" altLang="ko-KR" sz="1350" b="1" dirty="0">
                <a:solidFill>
                  <a:srgbClr val="FF48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lang="ko-KR" altLang="en-US" sz="1350" b="1" dirty="0">
                <a:solidFill>
                  <a:srgbClr val="FF48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레이아웃 분석</a:t>
            </a:r>
            <a:r>
              <a:rPr lang="en-US" altLang="ko-KR" sz="1350" b="1" dirty="0">
                <a:solidFill>
                  <a:srgbClr val="FF48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350" b="1" dirty="0">
                <a:solidFill>
                  <a:srgbClr val="FF48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분석 실행</a:t>
            </a:r>
            <a:r>
              <a:rPr lang="en-US" altLang="ko-KR" sz="1350" b="1" dirty="0">
                <a:solidFill>
                  <a:srgbClr val="FF48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350" b="1" dirty="0">
                <a:solidFill>
                  <a:srgbClr val="FF48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산출 및 저장까지의 흐름</a:t>
            </a:r>
            <a:endParaRPr lang="en-US" sz="135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02C1520D-5F66-D9D2-C0AE-2FE217450F35}"/>
              </a:ext>
            </a:extLst>
          </p:cNvPr>
          <p:cNvSpPr/>
          <p:nvPr/>
        </p:nvSpPr>
        <p:spPr>
          <a:xfrm>
            <a:off x="868680" y="3401568"/>
            <a:ext cx="105156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17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465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DONGCOMDOCS PROJECT</a:t>
            </a:r>
            <a:endParaRPr lang="en-US" sz="660" dirty="0"/>
          </a:p>
        </p:txBody>
      </p:sp>
      <p:sp>
        <p:nvSpPr>
          <p:cNvPr id="4" name="Text 1"/>
          <p:cNvSpPr/>
          <p:nvPr/>
        </p:nvSpPr>
        <p:spPr>
          <a:xfrm>
            <a:off x="10195560" y="64465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</a:t>
            </a:r>
            <a:endParaRPr lang="en-US" sz="660" dirty="0"/>
          </a:p>
        </p:txBody>
      </p:sp>
      <p:sp>
        <p:nvSpPr>
          <p:cNvPr id="5" name="Text 2"/>
          <p:cNvSpPr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68680" y="74980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68680" y="1298448"/>
            <a:ext cx="8779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2286000" y="3063240"/>
            <a:ext cx="475488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178808" y="3063240"/>
            <a:ext cx="475488" cy="0"/>
          </a:xfrm>
          <a:prstGeom prst="line">
            <a:avLst/>
          </a:prstGeom>
          <a:noFill/>
          <a:ln w="12700">
            <a:solidFill>
              <a:srgbClr val="FF48E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071616" y="3063240"/>
            <a:ext cx="475488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964424" y="3063240"/>
            <a:ext cx="475488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857232" y="3063240"/>
            <a:ext cx="475488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868680" y="2267712"/>
            <a:ext cx="1589180" cy="1600200"/>
          </a:xfrm>
          <a:prstGeom prst="roundRect">
            <a:avLst>
              <a:gd name="adj" fmla="val 4938"/>
            </a:avLst>
          </a:prstGeom>
          <a:solidFill>
            <a:srgbClr val="07030E">
              <a:alpha val="85000"/>
            </a:srgbClr>
          </a:solidFill>
          <a:ln w="10160">
            <a:solidFill>
              <a:srgbClr val="00E5FF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1033272" y="24323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231157" y="2324934"/>
            <a:ext cx="1226703" cy="4571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프로세스·규칙 등록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69848" y="2834640"/>
            <a:ext cx="1261872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ko-KR" altLang="en-US" sz="900" dirty="0">
                <a:solidFill>
                  <a:schemeClr val="accent4">
                    <a:lumMod val="40000"/>
                    <a:lumOff val="60000"/>
                  </a:schemeClr>
                </a:solidFill>
                <a:latin typeface="Malgun Gothic" pitchFamily="34" charset="0"/>
                <a:ea typeface="Malgun Gothic" pitchFamily="34" charset="-122"/>
              </a:rPr>
              <a:t>프로세스 이름</a:t>
            </a:r>
            <a:r>
              <a:rPr lang="en-US" altLang="ko-KR" sz="900" dirty="0">
                <a:solidFill>
                  <a:schemeClr val="accent4">
                    <a:lumMod val="40000"/>
                    <a:lumOff val="60000"/>
                  </a:schemeClr>
                </a:solidFill>
                <a:latin typeface="Malgun Gothic" pitchFamily="34" charset="0"/>
                <a:ea typeface="Malgun Gothic" pitchFamily="34" charset="-122"/>
              </a:rPr>
              <a:t>,</a:t>
            </a:r>
            <a:r>
              <a:rPr lang="ko-KR" altLang="en-US" sz="900" dirty="0">
                <a:solidFill>
                  <a:schemeClr val="accent4">
                    <a:lumMod val="40000"/>
                    <a:lumOff val="60000"/>
                  </a:schemeClr>
                </a:solidFill>
                <a:latin typeface="Malgun Gothic" pitchFamily="34" charset="0"/>
                <a:ea typeface="Malgun Gothic" pitchFamily="34" charset="-122"/>
              </a:rPr>
              <a:t>기간</a:t>
            </a:r>
            <a:r>
              <a:rPr lang="en-US" altLang="ko-KR" sz="900" dirty="0">
                <a:solidFill>
                  <a:schemeClr val="accent4">
                    <a:lumMod val="40000"/>
                    <a:lumOff val="60000"/>
                  </a:schemeClr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900" dirty="0">
                <a:solidFill>
                  <a:schemeClr val="accent4">
                    <a:lumMod val="40000"/>
                    <a:lumOff val="60000"/>
                  </a:schemeClr>
                </a:solidFill>
                <a:latin typeface="Malgun Gothic" pitchFamily="34" charset="0"/>
                <a:ea typeface="Malgun Gothic" pitchFamily="34" charset="-122"/>
              </a:rPr>
              <a:t>필요 제출서류 등을 등록</a:t>
            </a:r>
            <a:endParaRPr lang="en-US" sz="9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7" name="Shape 14"/>
          <p:cNvSpPr/>
          <p:nvPr/>
        </p:nvSpPr>
        <p:spPr>
          <a:xfrm>
            <a:off x="2761488" y="2267712"/>
            <a:ext cx="1589180" cy="1600200"/>
          </a:xfrm>
          <a:prstGeom prst="roundRect">
            <a:avLst>
              <a:gd name="adj" fmla="val 4938"/>
            </a:avLst>
          </a:prstGeom>
          <a:solidFill>
            <a:srgbClr val="07030E">
              <a:alpha val="85000"/>
            </a:srgbClr>
          </a:solidFill>
          <a:ln w="10160">
            <a:solidFill>
              <a:srgbClr val="FF48E2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2926080" y="24323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8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123965" y="2324934"/>
            <a:ext cx="1226703" cy="4571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 업로드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962656" y="2834640"/>
            <a:ext cx="1261872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chemeClr val="accent4">
                    <a:lumMod val="40000"/>
                    <a:lumOff val="60000"/>
                  </a:schemeClr>
                </a:solidFill>
                <a:latin typeface="Malgun Gothic" pitchFamily="34" charset="0"/>
                <a:ea typeface="Malgun Gothic" pitchFamily="34" charset="-122"/>
              </a:rPr>
              <a:t>PDF </a:t>
            </a:r>
            <a:r>
              <a:rPr lang="ko-KR" altLang="en-US" sz="900" dirty="0">
                <a:solidFill>
                  <a:schemeClr val="accent4">
                    <a:lumMod val="40000"/>
                    <a:lumOff val="60000"/>
                  </a:schemeClr>
                </a:solidFill>
                <a:latin typeface="Malgun Gothic" pitchFamily="34" charset="0"/>
                <a:ea typeface="Malgun Gothic" pitchFamily="34" charset="-122"/>
              </a:rPr>
              <a:t>템플릿 업로드 및 레이아웃 분석</a:t>
            </a:r>
            <a:endParaRPr lang="en-US" sz="9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654296" y="2267712"/>
            <a:ext cx="1589180" cy="1600200"/>
          </a:xfrm>
          <a:prstGeom prst="roundRect">
            <a:avLst>
              <a:gd name="adj" fmla="val 4938"/>
            </a:avLst>
          </a:prstGeom>
          <a:solidFill>
            <a:srgbClr val="07030E">
              <a:alpha val="85000"/>
            </a:srgbClr>
          </a:solidFill>
          <a:ln w="10160">
            <a:solidFill>
              <a:srgbClr val="FF48E2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4818888" y="24323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8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043971" y="2313445"/>
            <a:ext cx="1226703" cy="4571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확정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55464" y="2834640"/>
            <a:ext cx="1261872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ko-KR" altLang="en-US" sz="900" dirty="0">
                <a:solidFill>
                  <a:schemeClr val="accent4">
                    <a:lumMod val="40000"/>
                    <a:lumOff val="6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추출한스키마를 </a:t>
            </a:r>
            <a:r>
              <a:rPr lang="ko-KR" altLang="en-US" sz="9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시각화된</a:t>
            </a:r>
            <a:r>
              <a:rPr lang="ko-KR" altLang="en-US" sz="900" dirty="0">
                <a:solidFill>
                  <a:schemeClr val="accent4">
                    <a:lumMod val="40000"/>
                    <a:lumOff val="6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9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Bbox</a:t>
            </a:r>
            <a:r>
              <a:rPr lang="ko-KR" altLang="en-US" sz="900" dirty="0">
                <a:solidFill>
                  <a:schemeClr val="accent4">
                    <a:lumMod val="40000"/>
                    <a:lumOff val="6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대조 검토하여 추가</a:t>
            </a:r>
            <a:r>
              <a:rPr lang="en-US" altLang="ko-KR" sz="900" dirty="0">
                <a:solidFill>
                  <a:schemeClr val="accent4">
                    <a:lumMod val="40000"/>
                    <a:lumOff val="6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900" dirty="0">
                <a:solidFill>
                  <a:schemeClr val="accent4">
                    <a:lumMod val="40000"/>
                    <a:lumOff val="6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 및 확정</a:t>
            </a:r>
            <a:endParaRPr lang="en-US" sz="9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5" name="Shape 22"/>
          <p:cNvSpPr/>
          <p:nvPr/>
        </p:nvSpPr>
        <p:spPr>
          <a:xfrm>
            <a:off x="6547104" y="2267712"/>
            <a:ext cx="1589180" cy="1600200"/>
          </a:xfrm>
          <a:prstGeom prst="roundRect">
            <a:avLst>
              <a:gd name="adj" fmla="val 4938"/>
            </a:avLst>
          </a:prstGeom>
          <a:solidFill>
            <a:srgbClr val="07030E">
              <a:alpha val="85000"/>
            </a:srgbClr>
          </a:solidFill>
          <a:ln w="10160">
            <a:solidFill>
              <a:srgbClr val="00E5FF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6711696" y="24323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953543" y="2324934"/>
            <a:ext cx="1226703" cy="4571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제출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748272" y="2834640"/>
            <a:ext cx="1261872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chemeClr val="accent4">
                    <a:lumMod val="40000"/>
                    <a:lumOff val="6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 내 파일 업로드 및 이력 관리</a:t>
            </a:r>
            <a:endParaRPr lang="en-US" sz="9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9" name="Shape 26"/>
          <p:cNvSpPr/>
          <p:nvPr/>
        </p:nvSpPr>
        <p:spPr>
          <a:xfrm>
            <a:off x="8439912" y="2267712"/>
            <a:ext cx="1589180" cy="1600200"/>
          </a:xfrm>
          <a:prstGeom prst="roundRect">
            <a:avLst>
              <a:gd name="adj" fmla="val 4938"/>
            </a:avLst>
          </a:prstGeom>
          <a:solidFill>
            <a:srgbClr val="07030E">
              <a:alpha val="85000"/>
            </a:srgbClr>
          </a:solidFill>
          <a:ln w="10160">
            <a:solidFill>
              <a:srgbClr val="00E5FF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8604504" y="24323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841545" y="2324934"/>
            <a:ext cx="1226703" cy="4571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검증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641080" y="2834640"/>
            <a:ext cx="1261872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chemeClr val="accent4">
                    <a:lumMod val="40000"/>
                    <a:lumOff val="6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파일명·필수 슬롯·제출 조건 확인</a:t>
            </a:r>
            <a:endParaRPr lang="en-US" sz="9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3" name="Shape 30"/>
          <p:cNvSpPr/>
          <p:nvPr/>
        </p:nvSpPr>
        <p:spPr>
          <a:xfrm>
            <a:off x="10332720" y="2267712"/>
            <a:ext cx="1589180" cy="1600200"/>
          </a:xfrm>
          <a:prstGeom prst="roundRect">
            <a:avLst>
              <a:gd name="adj" fmla="val 4938"/>
            </a:avLst>
          </a:prstGeom>
          <a:solidFill>
            <a:srgbClr val="07030E">
              <a:alpha val="85000"/>
            </a:srgbClr>
          </a:solidFill>
          <a:ln w="10160">
            <a:solidFill>
              <a:srgbClr val="00E5FF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10497312" y="24323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0695197" y="2324934"/>
            <a:ext cx="1226703" cy="4571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재분석·다운로드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10533888" y="2834640"/>
            <a:ext cx="1261872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chemeClr val="accent4">
                    <a:lumMod val="40000"/>
                    <a:lumOff val="6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docType 분류, 필드 추출, XLSX/ZIP</a:t>
            </a:r>
            <a:endParaRPr lang="en-US" sz="9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7" name="Shape 34"/>
          <p:cNvSpPr/>
          <p:nvPr/>
        </p:nvSpPr>
        <p:spPr>
          <a:xfrm>
            <a:off x="1692812" y="4896261"/>
            <a:ext cx="9155723" cy="658368"/>
          </a:xfrm>
          <a:prstGeom prst="roundRect">
            <a:avLst>
              <a:gd name="adj" fmla="val 11111"/>
            </a:avLst>
          </a:prstGeom>
          <a:solidFill>
            <a:srgbClr val="08030F">
              <a:alpha val="85000"/>
            </a:srgbClr>
          </a:solidFill>
          <a:ln w="10160">
            <a:solidFill>
              <a:srgbClr val="FF48E2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2187878" y="5042564"/>
            <a:ext cx="8165592" cy="3756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ko-KR" altLang="en-US" sz="105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담당자의 프로세스 등록부터 재학생의 서류</a:t>
            </a:r>
            <a:r>
              <a:rPr lang="en-US" altLang="ko-KR" sz="105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5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</a:t>
            </a:r>
            <a:r>
              <a:rPr lang="en-US" altLang="ko-KR" sz="105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05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업무 담당자의 </a:t>
            </a:r>
            <a:r>
              <a:rPr lang="en-US" altLang="ko-KR" sz="105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r>
              <a:rPr lang="en-US" altLang="ko-KR" sz="105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5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r>
              <a:rPr lang="en-US" altLang="ko-KR" sz="105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5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다운로드까지</a:t>
            </a:r>
            <a:r>
              <a:rPr lang="ko-KR" altLang="en-US" sz="105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단일 웹 시스템으로 연결합니다</a:t>
            </a:r>
            <a:r>
              <a:rPr lang="en-US" altLang="ko-KR" sz="105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10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465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DONGCOMDOCS PROJECT</a:t>
            </a:r>
            <a:endParaRPr lang="en-US" sz="660" dirty="0"/>
          </a:p>
        </p:txBody>
      </p:sp>
      <p:sp>
        <p:nvSpPr>
          <p:cNvPr id="4" name="Text 1"/>
          <p:cNvSpPr/>
          <p:nvPr/>
        </p:nvSpPr>
        <p:spPr>
          <a:xfrm>
            <a:off x="10195560" y="64465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</a:t>
            </a:r>
            <a:endParaRPr lang="en-US" sz="660" dirty="0"/>
          </a:p>
        </p:txBody>
      </p:sp>
      <p:sp>
        <p:nvSpPr>
          <p:cNvPr id="5" name="Text 2"/>
          <p:cNvSpPr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68680" y="85953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E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02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868680" y="1170432"/>
            <a:ext cx="9144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68680" y="1993392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</a:t>
            </a:r>
            <a:r>
              <a:rPr lang="en-US" sz="29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</a:t>
            </a: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모듈</a:t>
            </a:r>
            <a:endParaRPr lang="en-US" sz="2900" dirty="0"/>
          </a:p>
        </p:txBody>
      </p:sp>
      <p:sp>
        <p:nvSpPr>
          <p:cNvPr id="9" name="Text 6"/>
          <p:cNvSpPr/>
          <p:nvPr/>
        </p:nvSpPr>
        <p:spPr>
          <a:xfrm>
            <a:off x="868680" y="28346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FF48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 레이아웃 분석</a:t>
            </a:r>
            <a:r>
              <a:rPr lang="en-US" altLang="ko-KR" sz="1350" b="1" dirty="0">
                <a:solidFill>
                  <a:srgbClr val="FF48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350" b="1" dirty="0">
                <a:solidFill>
                  <a:srgbClr val="FF48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분석 엔진</a:t>
            </a:r>
            <a:r>
              <a:rPr lang="en-US" altLang="ko-KR" sz="1350" b="1" dirty="0">
                <a:solidFill>
                  <a:srgbClr val="FF48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doctype </a:t>
            </a:r>
            <a:r>
              <a:rPr lang="ko-KR" altLang="en-US" sz="1350" b="1" dirty="0">
                <a:solidFill>
                  <a:srgbClr val="FF48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분류와 필드 추출</a:t>
            </a:r>
            <a:endParaRPr lang="en-US" altLang="ko-KR" sz="1350" b="1" dirty="0">
              <a:solidFill>
                <a:srgbClr val="FF48E2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68680" y="3401568"/>
            <a:ext cx="105156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465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DONGCOMDOCS PROJECT</a:t>
            </a:r>
            <a:endParaRPr lang="en-US" sz="660" dirty="0"/>
          </a:p>
        </p:txBody>
      </p:sp>
      <p:sp>
        <p:nvSpPr>
          <p:cNvPr id="4" name="Text 1"/>
          <p:cNvSpPr/>
          <p:nvPr/>
        </p:nvSpPr>
        <p:spPr>
          <a:xfrm>
            <a:off x="10195560" y="64465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</a:t>
            </a:r>
            <a:endParaRPr lang="en-US" sz="660" dirty="0"/>
          </a:p>
        </p:txBody>
      </p:sp>
      <p:sp>
        <p:nvSpPr>
          <p:cNvPr id="5" name="Text 2"/>
          <p:cNvSpPr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68680" y="74980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레이아웃</a:t>
            </a: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분석 모듈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68680" y="129844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chemeClr val="accent4">
                    <a:lumMod val="60000"/>
                    <a:lumOff val="4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템플릿이 바뀌어도 필드 스키마와 bbox를 다시 분석할 수 있도록 설계했습니다.</a:t>
            </a:r>
            <a:endParaRPr lang="en-US" sz="11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“문서 양식이 바뀌어도, 새 </a:t>
            </a:r>
            <a:r>
              <a:rPr lang="ko-KR" alt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문서의</a:t>
            </a: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</a:t>
            </a: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위치 정보를 다시 추출합니다.”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3493008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0E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포인트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868680" y="3877056"/>
            <a:ext cx="5349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7F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3</a:t>
            </a:r>
            <a:r>
              <a:rPr lang="ko-KR" altLang="en-US" sz="1200" dirty="0">
                <a:solidFill>
                  <a:srgbClr val="F7F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가지 방식의 분석 엔진 중 선택하여 사용 가능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7F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200" dirty="0">
                <a:solidFill>
                  <a:srgbClr val="F7F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추출이 잘 되지 않은 경우</a:t>
            </a:r>
            <a:r>
              <a:rPr lang="en-US" altLang="ko-KR" sz="1200" dirty="0">
                <a:solidFill>
                  <a:srgbClr val="F7F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dirty="0">
                <a:solidFill>
                  <a:srgbClr val="F7F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수동으로 추가 생성 및 삭제 가능</a:t>
            </a:r>
            <a:endParaRPr lang="en-US" altLang="ko-KR" sz="1200" dirty="0">
              <a:solidFill>
                <a:srgbClr val="F7F5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F7F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UI </a:t>
            </a:r>
            <a:r>
              <a:rPr lang="ko-KR" altLang="en-US" sz="1200" dirty="0">
                <a:solidFill>
                  <a:srgbClr val="F7F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상에서 </a:t>
            </a:r>
            <a:r>
              <a:rPr lang="en-US" altLang="ko-KR" sz="1200" dirty="0">
                <a:solidFill>
                  <a:srgbClr val="F7F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Bounding Box</a:t>
            </a:r>
            <a:r>
              <a:rPr lang="ko-KR" altLang="en-US" sz="1200" dirty="0">
                <a:solidFill>
                  <a:srgbClr val="F7F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표시해서</a:t>
            </a:r>
            <a:r>
              <a:rPr lang="en-US" altLang="ko-KR" sz="1200" dirty="0">
                <a:solidFill>
                  <a:srgbClr val="F7F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dirty="0">
                <a:solidFill>
                  <a:srgbClr val="F7F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편리한 대조가 가능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261013" y="1850813"/>
            <a:ext cx="4527973" cy="4416552"/>
          </a:xfrm>
          <a:prstGeom prst="roundRect">
            <a:avLst>
              <a:gd name="adj" fmla="val 2319"/>
            </a:avLst>
          </a:prstGeom>
          <a:blipFill>
            <a:blip r:embed="rId4"/>
            <a:stretch>
              <a:fillRect/>
            </a:stretch>
          </a:blipFill>
          <a:ln w="101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16952" y="1984248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671816" y="2377440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744968" y="2834640"/>
            <a:ext cx="28437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F9DD0-1EAA-E3A0-6C87-8384FD523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unzip/ppt/media/image1.png">
            <a:extLst>
              <a:ext uri="{FF2B5EF4-FFF2-40B4-BE49-F238E27FC236}">
                <a16:creationId xmlns:a16="http://schemas.microsoft.com/office/drawing/2014/main" id="{3A235603-AE7E-090F-C2DF-1B5AB3D08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5571BC8-A463-82FF-FC0B-53B740213CA9}"/>
              </a:ext>
            </a:extLst>
          </p:cNvPr>
          <p:cNvSpPr/>
          <p:nvPr/>
        </p:nvSpPr>
        <p:spPr>
          <a:xfrm>
            <a:off x="502920" y="64465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DONGCOMDOCS PROJECT</a:t>
            </a:r>
            <a:endParaRPr lang="en-US" sz="66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92471F6-BA9F-F8F0-64D9-B74E1FEB4C35}"/>
              </a:ext>
            </a:extLst>
          </p:cNvPr>
          <p:cNvSpPr/>
          <p:nvPr/>
        </p:nvSpPr>
        <p:spPr>
          <a:xfrm>
            <a:off x="10195560" y="64465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</a:t>
            </a:r>
            <a:endParaRPr lang="en-US" sz="66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56A9738-BA55-279D-EAEC-136F7E206FF9}"/>
              </a:ext>
            </a:extLst>
          </p:cNvPr>
          <p:cNvSpPr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04CF9C6-489C-06CD-59F2-AC1DFB6A8A4E}"/>
              </a:ext>
            </a:extLst>
          </p:cNvPr>
          <p:cNvSpPr/>
          <p:nvPr/>
        </p:nvSpPr>
        <p:spPr>
          <a:xfrm>
            <a:off x="868680" y="74980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서류에 대한 분석 결과 저장</a:t>
            </a:r>
            <a:endParaRPr lang="en-US" sz="21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AA2EF32-1FF9-8D4A-A312-C00CE26893F8}"/>
              </a:ext>
            </a:extLst>
          </p:cNvPr>
          <p:cNvSpPr/>
          <p:nvPr/>
        </p:nvSpPr>
        <p:spPr>
          <a:xfrm>
            <a:off x="868680" y="129844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chemeClr val="accent4">
                    <a:lumMod val="60000"/>
                    <a:lumOff val="4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100" dirty="0">
                <a:solidFill>
                  <a:schemeClr val="accent4">
                    <a:lumMod val="60000"/>
                    <a:lumOff val="4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의해 산출된 스키마 기반으로 각 속성값을 뽑아서</a:t>
            </a:r>
            <a:r>
              <a:rPr lang="en-US" altLang="ko-KR" sz="1100" dirty="0">
                <a:solidFill>
                  <a:schemeClr val="accent4">
                    <a:lumMod val="60000"/>
                    <a:lumOff val="4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Excel</a:t>
            </a:r>
            <a:r>
              <a:rPr lang="ko-KR" altLang="en-US" sz="1100" dirty="0">
                <a:solidFill>
                  <a:schemeClr val="accent4">
                    <a:lumMod val="60000"/>
                    <a:lumOff val="4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저장 가능하게 설계했습니다</a:t>
            </a:r>
            <a:r>
              <a:rPr lang="en-US" altLang="ko-KR" sz="1100" dirty="0">
                <a:solidFill>
                  <a:schemeClr val="accent4">
                    <a:lumMod val="60000"/>
                    <a:lumOff val="4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1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E6D5BBB-471B-F282-09F1-205CC700BEEB}"/>
              </a:ext>
            </a:extLst>
          </p:cNvPr>
          <p:cNvSpPr/>
          <p:nvPr/>
        </p:nvSpPr>
        <p:spPr>
          <a:xfrm>
            <a:off x="868680" y="178308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</a:t>
            </a:r>
            <a:r>
              <a:rPr lang="ko-KR" alt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이상 모든 문서를 사람이 직접 확인하지 않아도 됩니다</a:t>
            </a:r>
            <a:r>
              <a:rPr lang="en-US" altLang="ko-KR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”</a:t>
            </a:r>
            <a:endParaRPr lang="en-US" sz="2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CD8368D-33B4-0955-1D3C-247DAA869B6D}"/>
              </a:ext>
            </a:extLst>
          </p:cNvPr>
          <p:cNvSpPr/>
          <p:nvPr/>
        </p:nvSpPr>
        <p:spPr>
          <a:xfrm>
            <a:off x="868680" y="3493008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 err="1">
                <a:solidFill>
                  <a:srgbClr val="00E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</a:t>
            </a:r>
            <a:r>
              <a:rPr lang="en-US" sz="1120" b="1" dirty="0">
                <a:solidFill>
                  <a:srgbClr val="00E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20" b="1" dirty="0" err="1">
                <a:solidFill>
                  <a:srgbClr val="00E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포인트</a:t>
            </a:r>
            <a:endParaRPr lang="en-US" sz="112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157D11A-FA70-649F-E4CF-7D9E3F6E3B8A}"/>
              </a:ext>
            </a:extLst>
          </p:cNvPr>
          <p:cNvSpPr/>
          <p:nvPr/>
        </p:nvSpPr>
        <p:spPr>
          <a:xfrm>
            <a:off x="868680" y="3877056"/>
            <a:ext cx="5349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7F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200" dirty="0">
                <a:solidFill>
                  <a:srgbClr val="F7F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제출된 파일들에 대하여 저장된 스키마 기반 </a:t>
            </a:r>
            <a:r>
              <a:rPr lang="en-US" altLang="ko-KR" sz="1200" dirty="0">
                <a:solidFill>
                  <a:srgbClr val="F7F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Value </a:t>
            </a:r>
            <a:r>
              <a:rPr lang="ko-KR" altLang="en-US" sz="1200" dirty="0">
                <a:solidFill>
                  <a:srgbClr val="F7F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추출</a:t>
            </a:r>
            <a:endParaRPr lang="en-US" sz="1200" dirty="0">
              <a:solidFill>
                <a:srgbClr val="F7F5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F7F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200" dirty="0">
                <a:solidFill>
                  <a:srgbClr val="F7F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 및 </a:t>
            </a:r>
            <a:r>
              <a:rPr lang="en-US" altLang="ko-KR" sz="1200" dirty="0">
                <a:solidFill>
                  <a:srgbClr val="F7F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ZIP </a:t>
            </a:r>
            <a:r>
              <a:rPr lang="ko-KR" altLang="en-US" sz="1200" dirty="0">
                <a:solidFill>
                  <a:srgbClr val="F7F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파일로 저장 가능</a:t>
            </a:r>
            <a:endParaRPr lang="en-US" altLang="ko-KR" sz="1200" dirty="0">
              <a:solidFill>
                <a:srgbClr val="F7F5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E3DE027E-36EB-9C45-4320-9210EE3E54B8}"/>
              </a:ext>
            </a:extLst>
          </p:cNvPr>
          <p:cNvSpPr/>
          <p:nvPr/>
        </p:nvSpPr>
        <p:spPr>
          <a:xfrm>
            <a:off x="4928135" y="3054096"/>
            <a:ext cx="6879068" cy="3247577"/>
          </a:xfrm>
          <a:prstGeom prst="roundRect">
            <a:avLst>
              <a:gd name="adj" fmla="val 2319"/>
            </a:avLst>
          </a:prstGeom>
          <a:blipFill>
            <a:blip r:embed="rId4"/>
            <a:stretch>
              <a:fillRect/>
            </a:stretch>
          </a:blipFill>
          <a:ln w="101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3DAA50D-F296-4799-C343-84A2DCF139A7}"/>
              </a:ext>
            </a:extLst>
          </p:cNvPr>
          <p:cNvSpPr/>
          <p:nvPr/>
        </p:nvSpPr>
        <p:spPr>
          <a:xfrm>
            <a:off x="7616952" y="1984248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1BD9241-5D06-9D98-E404-1BE6BE98091E}"/>
              </a:ext>
            </a:extLst>
          </p:cNvPr>
          <p:cNvSpPr/>
          <p:nvPr/>
        </p:nvSpPr>
        <p:spPr>
          <a:xfrm>
            <a:off x="7671816" y="2377440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2E167FFA-5908-AF06-0131-0689833C2949}"/>
              </a:ext>
            </a:extLst>
          </p:cNvPr>
          <p:cNvSpPr/>
          <p:nvPr/>
        </p:nvSpPr>
        <p:spPr>
          <a:xfrm>
            <a:off x="7744968" y="2834640"/>
            <a:ext cx="28437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987758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465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DONGCOMDOCS PROJECT</a:t>
            </a:r>
            <a:endParaRPr lang="en-US" sz="660" dirty="0"/>
          </a:p>
        </p:txBody>
      </p:sp>
      <p:sp>
        <p:nvSpPr>
          <p:cNvPr id="4" name="Text 1"/>
          <p:cNvSpPr/>
          <p:nvPr/>
        </p:nvSpPr>
        <p:spPr>
          <a:xfrm>
            <a:off x="10195560" y="64465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</a:t>
            </a:r>
            <a:endParaRPr lang="en-US" sz="660" dirty="0"/>
          </a:p>
        </p:txBody>
      </p:sp>
      <p:sp>
        <p:nvSpPr>
          <p:cNvPr id="5" name="Text 2"/>
          <p:cNvSpPr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68680" y="74980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분석 엔진과 재분석 파이프라인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68680" y="129844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68680" y="1664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0E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엔진</a:t>
            </a:r>
            <a:endParaRPr lang="en-US" sz="1120" dirty="0"/>
          </a:p>
        </p:txBody>
      </p:sp>
      <p:sp>
        <p:nvSpPr>
          <p:cNvPr id="9" name="Shape 6"/>
          <p:cNvSpPr/>
          <p:nvPr/>
        </p:nvSpPr>
        <p:spPr>
          <a:xfrm>
            <a:off x="868680" y="2084832"/>
            <a:ext cx="1755648" cy="1325880"/>
          </a:xfrm>
          <a:prstGeom prst="roundRect">
            <a:avLst>
              <a:gd name="adj" fmla="val 5517"/>
            </a:avLst>
          </a:prstGeom>
          <a:solidFill>
            <a:srgbClr val="07030E">
              <a:alpha val="85000"/>
            </a:srgbClr>
          </a:solidFill>
          <a:ln w="10160">
            <a:solidFill>
              <a:srgbClr val="00E5FF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1033272" y="224942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453896" y="2240280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vLLM 터널</a:t>
            </a:r>
            <a:endParaRPr lang="en-US" sz="1040" dirty="0"/>
          </a:p>
        </p:txBody>
      </p:sp>
      <p:sp>
        <p:nvSpPr>
          <p:cNvPr id="12" name="Text 9"/>
          <p:cNvSpPr/>
          <p:nvPr/>
        </p:nvSpPr>
        <p:spPr>
          <a:xfrm>
            <a:off x="1069848" y="2651760"/>
            <a:ext cx="1353312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chemeClr val="accent4">
                    <a:lumMod val="60000"/>
                    <a:lumOff val="4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로컬/터널 기반 멀티모달 모델 연동</a:t>
            </a:r>
            <a:endParaRPr lang="en-US" sz="78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926080" y="2084832"/>
            <a:ext cx="1755648" cy="1325880"/>
          </a:xfrm>
          <a:prstGeom prst="roundRect">
            <a:avLst>
              <a:gd name="adj" fmla="val 5517"/>
            </a:avLst>
          </a:prstGeom>
          <a:solidFill>
            <a:srgbClr val="07030E">
              <a:alpha val="85000"/>
            </a:srgbClr>
          </a:solidFill>
          <a:ln w="10160">
            <a:solidFill>
              <a:srgbClr val="FF48E2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3090672" y="224942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8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511296" y="2240280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HuggingFace</a:t>
            </a:r>
            <a:endParaRPr lang="en-US" sz="1040" dirty="0"/>
          </a:p>
        </p:txBody>
      </p:sp>
      <p:sp>
        <p:nvSpPr>
          <p:cNvPr id="16" name="Text 13"/>
          <p:cNvSpPr/>
          <p:nvPr/>
        </p:nvSpPr>
        <p:spPr>
          <a:xfrm>
            <a:off x="3127248" y="2651760"/>
            <a:ext cx="1353312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chemeClr val="accent4">
                    <a:lumMod val="60000"/>
                    <a:lumOff val="4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Router API 기반 텍스트·비전 모델 활용</a:t>
            </a:r>
            <a:endParaRPr lang="en-US" sz="78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983480" y="2084832"/>
            <a:ext cx="1755648" cy="1325880"/>
          </a:xfrm>
          <a:prstGeom prst="roundRect">
            <a:avLst>
              <a:gd name="adj" fmla="val 5517"/>
            </a:avLst>
          </a:prstGeom>
          <a:solidFill>
            <a:srgbClr val="07030E">
              <a:alpha val="85000"/>
            </a:srgbClr>
          </a:solidFill>
          <a:ln w="10160">
            <a:solidFill>
              <a:srgbClr val="FFCE3A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5148072" y="224942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C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568696" y="2240280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Donut</a:t>
            </a:r>
            <a:endParaRPr lang="en-US" sz="1040" dirty="0"/>
          </a:p>
        </p:txBody>
      </p:sp>
      <p:sp>
        <p:nvSpPr>
          <p:cNvPr id="20" name="Text 17"/>
          <p:cNvSpPr/>
          <p:nvPr/>
        </p:nvSpPr>
        <p:spPr>
          <a:xfrm>
            <a:off x="5184648" y="2651760"/>
            <a:ext cx="1353312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chemeClr val="accent4">
                    <a:lumMod val="60000"/>
                    <a:lumOff val="4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NAVER Clova DocVQA/CORD, 로컬 transformers </a:t>
            </a:r>
            <a:r>
              <a:rPr lang="en-US" sz="78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</a:t>
            </a:r>
            <a:r>
              <a:rPr lang="en-US" sz="780" dirty="0">
                <a:solidFill>
                  <a:schemeClr val="accent4">
                    <a:lumMod val="60000"/>
                    <a:lumOff val="4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(Hugging Face </a:t>
            </a:r>
            <a:r>
              <a:rPr lang="en-US" sz="78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Faillback</a:t>
            </a:r>
            <a:r>
              <a:rPr lang="en-US" sz="780" dirty="0">
                <a:solidFill>
                  <a:schemeClr val="accent4">
                    <a:lumMod val="60000"/>
                    <a:lumOff val="4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78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Text 18"/>
          <p:cNvSpPr/>
          <p:nvPr/>
        </p:nvSpPr>
        <p:spPr>
          <a:xfrm>
            <a:off x="868680" y="39319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20" b="1" dirty="0">
                <a:solidFill>
                  <a:srgbClr val="00E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r>
              <a:rPr lang="en-US" sz="1120" b="1" dirty="0">
                <a:solidFill>
                  <a:srgbClr val="00E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흐름</a:t>
            </a:r>
            <a:endParaRPr lang="en-US" sz="1120" dirty="0"/>
          </a:p>
        </p:txBody>
      </p:sp>
      <p:sp>
        <p:nvSpPr>
          <p:cNvPr id="22" name="Shape 19"/>
          <p:cNvSpPr/>
          <p:nvPr/>
        </p:nvSpPr>
        <p:spPr>
          <a:xfrm>
            <a:off x="2258568" y="5063744"/>
            <a:ext cx="438912" cy="0"/>
          </a:xfrm>
          <a:prstGeom prst="line">
            <a:avLst/>
          </a:prstGeom>
          <a:noFill/>
          <a:ln w="12700">
            <a:solidFill>
              <a:srgbClr val="FF48E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4087368" y="5063744"/>
            <a:ext cx="393192" cy="0"/>
          </a:xfrm>
          <a:prstGeom prst="line">
            <a:avLst/>
          </a:prstGeom>
          <a:noFill/>
          <a:ln w="12700">
            <a:solidFill>
              <a:srgbClr val="FF48E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868680" y="4416552"/>
            <a:ext cx="1389888" cy="1234440"/>
          </a:xfrm>
          <a:prstGeom prst="roundRect">
            <a:avLst>
              <a:gd name="adj" fmla="val 5926"/>
            </a:avLst>
          </a:prstGeom>
          <a:solidFill>
            <a:srgbClr val="07030E">
              <a:alpha val="85000"/>
            </a:srgbClr>
          </a:solidFill>
          <a:ln w="10160">
            <a:solidFill>
              <a:srgbClr val="00E5FF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1033272" y="458114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207008" y="4581144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파일 수집</a:t>
            </a:r>
            <a:endParaRPr lang="en-US" sz="1040" dirty="0"/>
          </a:p>
        </p:txBody>
      </p:sp>
      <p:sp>
        <p:nvSpPr>
          <p:cNvPr id="28" name="Text 25"/>
          <p:cNvSpPr/>
          <p:nvPr/>
        </p:nvSpPr>
        <p:spPr>
          <a:xfrm>
            <a:off x="1074817" y="4870703"/>
            <a:ext cx="98755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프로세스별 </a:t>
            </a:r>
            <a:r>
              <a:rPr lang="en-US" sz="780" dirty="0" err="1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</a:t>
            </a:r>
            <a:r>
              <a:rPr lang="en-US" sz="780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780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en-US" sz="780" dirty="0">
              <a:solidFill>
                <a:schemeClr val="accent4"/>
              </a:solidFill>
            </a:endParaRPr>
          </a:p>
        </p:txBody>
      </p:sp>
      <p:sp>
        <p:nvSpPr>
          <p:cNvPr id="33" name="Shape 30"/>
          <p:cNvSpPr/>
          <p:nvPr/>
        </p:nvSpPr>
        <p:spPr>
          <a:xfrm>
            <a:off x="2697480" y="4416552"/>
            <a:ext cx="1389888" cy="1234440"/>
          </a:xfrm>
          <a:prstGeom prst="roundRect">
            <a:avLst>
              <a:gd name="adj" fmla="val 5926"/>
            </a:avLst>
          </a:prstGeom>
          <a:solidFill>
            <a:srgbClr val="07030E">
              <a:alpha val="85000"/>
            </a:srgbClr>
          </a:solidFill>
          <a:ln w="10160">
            <a:solidFill>
              <a:srgbClr val="FF48E2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2862072" y="458114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48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3035808" y="458114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필드</a:t>
            </a:r>
            <a:r>
              <a:rPr lang="en-US" sz="10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4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추출</a:t>
            </a:r>
            <a:endParaRPr lang="en-US" sz="1040" dirty="0"/>
          </a:p>
        </p:txBody>
      </p:sp>
      <p:sp>
        <p:nvSpPr>
          <p:cNvPr id="36" name="Text 33"/>
          <p:cNvSpPr/>
          <p:nvPr/>
        </p:nvSpPr>
        <p:spPr>
          <a:xfrm>
            <a:off x="2799249" y="4870956"/>
            <a:ext cx="1288119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 err="1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</a:t>
            </a:r>
            <a:r>
              <a:rPr lang="en-US" sz="780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780" dirty="0" err="1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스키마에</a:t>
            </a:r>
            <a:r>
              <a:rPr lang="en-US" sz="780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780" dirty="0" err="1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맞춰</a:t>
            </a:r>
            <a:r>
              <a:rPr lang="en-US" sz="780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값 </a:t>
            </a:r>
            <a:r>
              <a:rPr lang="en-US" sz="780" dirty="0" err="1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추출</a:t>
            </a:r>
            <a:endParaRPr lang="en-US" sz="780" dirty="0">
              <a:solidFill>
                <a:schemeClr val="accent4"/>
              </a:solidFill>
            </a:endParaRPr>
          </a:p>
        </p:txBody>
      </p:sp>
      <p:sp>
        <p:nvSpPr>
          <p:cNvPr id="37" name="Shape 34"/>
          <p:cNvSpPr/>
          <p:nvPr/>
        </p:nvSpPr>
        <p:spPr>
          <a:xfrm>
            <a:off x="4526280" y="4416552"/>
            <a:ext cx="1389888" cy="1234440"/>
          </a:xfrm>
          <a:prstGeom prst="roundRect">
            <a:avLst>
              <a:gd name="adj" fmla="val 5926"/>
            </a:avLst>
          </a:prstGeom>
          <a:solidFill>
            <a:srgbClr val="07030E">
              <a:alpha val="85000"/>
            </a:srgbClr>
          </a:solidFill>
          <a:ln w="10160">
            <a:solidFill>
              <a:srgbClr val="00E5FF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4690872" y="458114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E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4854670" y="4590288"/>
            <a:ext cx="9708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04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r>
              <a:rPr lang="en-US" sz="10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 및 저장</a:t>
            </a:r>
            <a:endParaRPr lang="en-US" sz="1040" dirty="0"/>
          </a:p>
        </p:txBody>
      </p:sp>
      <p:sp>
        <p:nvSpPr>
          <p:cNvPr id="40" name="Text 37"/>
          <p:cNvSpPr/>
          <p:nvPr/>
        </p:nvSpPr>
        <p:spPr>
          <a:xfrm>
            <a:off x="4828032" y="4873686"/>
            <a:ext cx="98755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XLSX/ZIP </a:t>
            </a:r>
            <a:r>
              <a:rPr lang="en-US" sz="780" dirty="0" err="1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</a:t>
            </a:r>
            <a:endParaRPr lang="en-US" sz="780" dirty="0">
              <a:solidFill>
                <a:schemeClr val="accent4"/>
              </a:solidFill>
            </a:endParaRPr>
          </a:p>
        </p:txBody>
      </p:sp>
      <p:sp>
        <p:nvSpPr>
          <p:cNvPr id="41" name="Shape 38"/>
          <p:cNvSpPr/>
          <p:nvPr/>
        </p:nvSpPr>
        <p:spPr>
          <a:xfrm>
            <a:off x="7086600" y="1682496"/>
            <a:ext cx="0" cy="3840480"/>
          </a:xfrm>
          <a:prstGeom prst="line">
            <a:avLst/>
          </a:prstGeom>
          <a:noFill/>
          <a:ln w="10160">
            <a:solidFill>
              <a:srgbClr val="D23B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/>
          <p:nvPr/>
        </p:nvSpPr>
        <p:spPr>
          <a:xfrm>
            <a:off x="7543800" y="1965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00E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180" dirty="0"/>
          </a:p>
        </p:txBody>
      </p:sp>
      <p:sp>
        <p:nvSpPr>
          <p:cNvPr id="43" name="Text 40"/>
          <p:cNvSpPr/>
          <p:nvPr/>
        </p:nvSpPr>
        <p:spPr>
          <a:xfrm>
            <a:off x="8275319" y="1984248"/>
            <a:ext cx="3291839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 선택지 제공</a:t>
            </a:r>
            <a:endParaRPr lang="en-US" sz="1500" dirty="0"/>
          </a:p>
        </p:txBody>
      </p:sp>
      <p:sp>
        <p:nvSpPr>
          <p:cNvPr id="44" name="Text 41"/>
          <p:cNvSpPr/>
          <p:nvPr/>
        </p:nvSpPr>
        <p:spPr>
          <a:xfrm>
            <a:off x="8275320" y="23317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환경·비용·정확도에 따라 엔진 선택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7543800" y="2990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FF48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80" dirty="0"/>
          </a:p>
        </p:txBody>
      </p:sp>
      <p:sp>
        <p:nvSpPr>
          <p:cNvPr id="46" name="Text 43"/>
          <p:cNvSpPr/>
          <p:nvPr/>
        </p:nvSpPr>
        <p:spPr>
          <a:xfrm>
            <a:off x="8275319" y="3008376"/>
            <a:ext cx="3291839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프로세스에 대한 반복 분석 가능</a:t>
            </a:r>
            <a:endParaRPr lang="en-US" sz="1500" dirty="0"/>
          </a:p>
        </p:txBody>
      </p:sp>
      <p:sp>
        <p:nvSpPr>
          <p:cNvPr id="47" name="Text 44"/>
          <p:cNvSpPr/>
          <p:nvPr/>
        </p:nvSpPr>
        <p:spPr>
          <a:xfrm>
            <a:off x="8275320" y="33558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기반으로 동일 기준 반복 분석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7543800" y="401421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FFC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80" dirty="0"/>
          </a:p>
        </p:txBody>
      </p:sp>
      <p:sp>
        <p:nvSpPr>
          <p:cNvPr id="49" name="Text 46"/>
          <p:cNvSpPr/>
          <p:nvPr/>
        </p:nvSpPr>
        <p:spPr>
          <a:xfrm>
            <a:off x="8275319" y="4032504"/>
            <a:ext cx="3291839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결과 산출 및 데이터 집계</a:t>
            </a:r>
            <a:endParaRPr lang="en-US" sz="1500" dirty="0"/>
          </a:p>
        </p:txBody>
      </p:sp>
      <p:sp>
        <p:nvSpPr>
          <p:cNvPr id="50" name="Text 47"/>
          <p:cNvSpPr/>
          <p:nvPr/>
        </p:nvSpPr>
        <p:spPr>
          <a:xfrm>
            <a:off x="8275320" y="43799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후 XLSX/ZIP으로 결과 정리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465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DONGCOMDOCS PROJECT</a:t>
            </a:r>
            <a:endParaRPr lang="en-US" sz="660" dirty="0"/>
          </a:p>
        </p:txBody>
      </p:sp>
      <p:sp>
        <p:nvSpPr>
          <p:cNvPr id="4" name="Text 1"/>
          <p:cNvSpPr/>
          <p:nvPr/>
        </p:nvSpPr>
        <p:spPr>
          <a:xfrm>
            <a:off x="10195560" y="64465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</a:t>
            </a:r>
            <a:endParaRPr lang="en-US" sz="660" dirty="0"/>
          </a:p>
        </p:txBody>
      </p:sp>
      <p:sp>
        <p:nvSpPr>
          <p:cNvPr id="5" name="Text 2"/>
          <p:cNvSpPr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68680" y="85953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E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03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868680" y="1170432"/>
            <a:ext cx="9144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68680" y="1993392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</a:t>
            </a: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</a:t>
            </a:r>
            <a:r>
              <a:rPr lang="ko-KR" alt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현과 배포</a:t>
            </a:r>
            <a:endParaRPr lang="en-US" sz="2900" dirty="0"/>
          </a:p>
        </p:txBody>
      </p:sp>
      <p:sp>
        <p:nvSpPr>
          <p:cNvPr id="9" name="Text 6"/>
          <p:cNvSpPr/>
          <p:nvPr/>
        </p:nvSpPr>
        <p:spPr>
          <a:xfrm>
            <a:off x="868680" y="28346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50" b="1" dirty="0">
                <a:solidFill>
                  <a:srgbClr val="FF48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React/Express/Prisma/PostgreSQL </a:t>
            </a:r>
            <a:r>
              <a:rPr lang="ko-KR" altLang="en-US" sz="1350" b="1" dirty="0">
                <a:solidFill>
                  <a:srgbClr val="FF48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구조와 </a:t>
            </a:r>
            <a:r>
              <a:rPr lang="en-US" sz="1350" b="1" dirty="0">
                <a:solidFill>
                  <a:srgbClr val="FF48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Railway </a:t>
            </a:r>
            <a:r>
              <a:rPr lang="ko-KR" altLang="en-US" sz="1350" b="1" dirty="0">
                <a:solidFill>
                  <a:srgbClr val="FF48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</a:p>
        </p:txBody>
      </p:sp>
      <p:sp>
        <p:nvSpPr>
          <p:cNvPr id="10" name="Shape 7"/>
          <p:cNvSpPr/>
          <p:nvPr/>
        </p:nvSpPr>
        <p:spPr>
          <a:xfrm>
            <a:off x="868680" y="3401568"/>
            <a:ext cx="105156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465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DONGCOMDOCS PROJECT</a:t>
            </a:r>
            <a:endParaRPr lang="en-US" sz="660" dirty="0"/>
          </a:p>
        </p:txBody>
      </p:sp>
      <p:sp>
        <p:nvSpPr>
          <p:cNvPr id="4" name="Text 1"/>
          <p:cNvSpPr/>
          <p:nvPr/>
        </p:nvSpPr>
        <p:spPr>
          <a:xfrm>
            <a:off x="10195560" y="64465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</a:t>
            </a:r>
            <a:endParaRPr lang="en-US" sz="660" dirty="0"/>
          </a:p>
        </p:txBody>
      </p:sp>
      <p:sp>
        <p:nvSpPr>
          <p:cNvPr id="5" name="Text 2"/>
          <p:cNvSpPr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68680" y="74980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스택과 저장소 구조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68680" y="129844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학생·관리자 UI, API 서버, DB, AI 연동 로직을 명확히 분리했습니다.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600200" y="176479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en-US" sz="1240" dirty="0"/>
          </a:p>
        </p:txBody>
      </p:sp>
      <p:sp>
        <p:nvSpPr>
          <p:cNvPr id="10" name="Text 7"/>
          <p:cNvSpPr/>
          <p:nvPr/>
        </p:nvSpPr>
        <p:spPr>
          <a:xfrm>
            <a:off x="3383280" y="178308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FF48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Vite / React / TypeScript</a:t>
            </a:r>
            <a:endParaRPr lang="en-US" sz="960" dirty="0"/>
          </a:p>
        </p:txBody>
      </p:sp>
      <p:sp>
        <p:nvSpPr>
          <p:cNvPr id="11" name="Text 8"/>
          <p:cNvSpPr/>
          <p:nvPr/>
        </p:nvSpPr>
        <p:spPr>
          <a:xfrm>
            <a:off x="6035040" y="18105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학생·관리자 화면</a:t>
            </a:r>
            <a:endParaRPr lang="en-US" sz="830" dirty="0"/>
          </a:p>
        </p:txBody>
      </p:sp>
      <p:sp>
        <p:nvSpPr>
          <p:cNvPr id="12" name="Text 9"/>
          <p:cNvSpPr/>
          <p:nvPr/>
        </p:nvSpPr>
        <p:spPr>
          <a:xfrm>
            <a:off x="868680" y="244144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600200" y="242316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</a:t>
            </a:r>
            <a:endParaRPr lang="en-US" sz="1240" dirty="0"/>
          </a:p>
        </p:txBody>
      </p:sp>
      <p:sp>
        <p:nvSpPr>
          <p:cNvPr id="14" name="Text 11"/>
          <p:cNvSpPr/>
          <p:nvPr/>
        </p:nvSpPr>
        <p:spPr>
          <a:xfrm>
            <a:off x="3383280" y="244144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FF48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Express / Prisma</a:t>
            </a:r>
            <a:endParaRPr lang="en-US" sz="960" dirty="0"/>
          </a:p>
        </p:txBody>
      </p:sp>
      <p:sp>
        <p:nvSpPr>
          <p:cNvPr id="15" name="Text 12"/>
          <p:cNvSpPr/>
          <p:nvPr/>
        </p:nvSpPr>
        <p:spPr>
          <a:xfrm>
            <a:off x="6035040" y="2468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인증, 제출, 분석 API</a:t>
            </a:r>
            <a:endParaRPr lang="en-US" sz="830" dirty="0"/>
          </a:p>
        </p:txBody>
      </p:sp>
      <p:sp>
        <p:nvSpPr>
          <p:cNvPr id="16" name="Text 13"/>
          <p:cNvSpPr/>
          <p:nvPr/>
        </p:nvSpPr>
        <p:spPr>
          <a:xfrm>
            <a:off x="868680" y="309981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600200" y="308152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</a:t>
            </a:r>
            <a:endParaRPr lang="en-US" sz="1240" dirty="0"/>
          </a:p>
        </p:txBody>
      </p:sp>
      <p:sp>
        <p:nvSpPr>
          <p:cNvPr id="18" name="Text 15"/>
          <p:cNvSpPr/>
          <p:nvPr/>
        </p:nvSpPr>
        <p:spPr>
          <a:xfrm>
            <a:off x="3383280" y="309981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FF48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</a:t>
            </a:r>
            <a:endParaRPr lang="en-US" sz="960" dirty="0"/>
          </a:p>
        </p:txBody>
      </p:sp>
      <p:sp>
        <p:nvSpPr>
          <p:cNvPr id="19" name="Text 16"/>
          <p:cNvSpPr/>
          <p:nvPr/>
        </p:nvSpPr>
        <p:spPr>
          <a:xfrm>
            <a:off x="6035040" y="31272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사용자, 프로세스, 제출, 스키마 저장</a:t>
            </a:r>
            <a:endParaRPr lang="en-US" sz="830" dirty="0"/>
          </a:p>
        </p:txBody>
      </p:sp>
      <p:sp>
        <p:nvSpPr>
          <p:cNvPr id="20" name="Text 17"/>
          <p:cNvSpPr/>
          <p:nvPr/>
        </p:nvSpPr>
        <p:spPr>
          <a:xfrm>
            <a:off x="868680" y="375818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8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600200" y="373989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Integration</a:t>
            </a:r>
            <a:endParaRPr lang="en-US" sz="1240" dirty="0"/>
          </a:p>
        </p:txBody>
      </p:sp>
      <p:sp>
        <p:nvSpPr>
          <p:cNvPr id="22" name="Text 19"/>
          <p:cNvSpPr/>
          <p:nvPr/>
        </p:nvSpPr>
        <p:spPr>
          <a:xfrm>
            <a:off x="3383280" y="375818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FF48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vLLM / HF / Donut(HF Fallback)</a:t>
            </a:r>
            <a:endParaRPr lang="en-US" sz="960" dirty="0"/>
          </a:p>
        </p:txBody>
      </p:sp>
      <p:sp>
        <p:nvSpPr>
          <p:cNvPr id="23" name="Text 20"/>
          <p:cNvSpPr/>
          <p:nvPr/>
        </p:nvSpPr>
        <p:spPr>
          <a:xfrm>
            <a:off x="6035040" y="37856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 분석과 재분석</a:t>
            </a:r>
            <a:endParaRPr lang="en-US" sz="830" dirty="0"/>
          </a:p>
        </p:txBody>
      </p:sp>
      <p:sp>
        <p:nvSpPr>
          <p:cNvPr id="24" name="Text 21"/>
          <p:cNvSpPr/>
          <p:nvPr/>
        </p:nvSpPr>
        <p:spPr>
          <a:xfrm>
            <a:off x="868680" y="44165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600200" y="439826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Deploy</a:t>
            </a:r>
            <a:endParaRPr lang="en-US" sz="1240" dirty="0"/>
          </a:p>
        </p:txBody>
      </p:sp>
      <p:sp>
        <p:nvSpPr>
          <p:cNvPr id="26" name="Text 23"/>
          <p:cNvSpPr/>
          <p:nvPr/>
        </p:nvSpPr>
        <p:spPr>
          <a:xfrm>
            <a:off x="3383280" y="441655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FF48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Railway</a:t>
            </a:r>
            <a:endParaRPr lang="en-US" sz="960" dirty="0"/>
          </a:p>
        </p:txBody>
      </p:sp>
      <p:sp>
        <p:nvSpPr>
          <p:cNvPr id="27" name="Text 24"/>
          <p:cNvSpPr/>
          <p:nvPr/>
        </p:nvSpPr>
        <p:spPr>
          <a:xfrm>
            <a:off x="6035040" y="44439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/ Web / Postgres 분리</a:t>
            </a:r>
            <a:endParaRPr lang="en-US" sz="830" dirty="0"/>
          </a:p>
        </p:txBody>
      </p:sp>
      <p:sp>
        <p:nvSpPr>
          <p:cNvPr id="28" name="Shape 25"/>
          <p:cNvSpPr/>
          <p:nvPr/>
        </p:nvSpPr>
        <p:spPr>
          <a:xfrm>
            <a:off x="868680" y="5321808"/>
            <a:ext cx="10012680" cy="0"/>
          </a:xfrm>
          <a:prstGeom prst="line">
            <a:avLst/>
          </a:prstGeom>
          <a:noFill/>
          <a:ln w="8890">
            <a:solidFill>
              <a:srgbClr val="2A23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868680" y="55778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2423160" y="55778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465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DONGCOMDOCS PROJECT</a:t>
            </a:r>
            <a:endParaRPr lang="en-US" sz="660" dirty="0"/>
          </a:p>
        </p:txBody>
      </p:sp>
      <p:sp>
        <p:nvSpPr>
          <p:cNvPr id="4" name="Text 1"/>
          <p:cNvSpPr/>
          <p:nvPr/>
        </p:nvSpPr>
        <p:spPr>
          <a:xfrm>
            <a:off x="10195560" y="64465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</a:t>
            </a:r>
            <a:endParaRPr lang="en-US" sz="660" dirty="0"/>
          </a:p>
        </p:txBody>
      </p:sp>
      <p:sp>
        <p:nvSpPr>
          <p:cNvPr id="5" name="Text 2"/>
          <p:cNvSpPr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68680" y="74980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워크플로우 화면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68680" y="129844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868680" y="1691640"/>
            <a:ext cx="3246120" cy="2971800"/>
          </a:xfrm>
          <a:prstGeom prst="roundRect">
            <a:avLst>
              <a:gd name="adj" fmla="val 2462"/>
            </a:avLst>
          </a:prstGeom>
          <a:blipFill>
            <a:blip r:embed="rId4"/>
            <a:stretch>
              <a:fillRect/>
            </a:stretch>
          </a:blipFill>
          <a:ln w="101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480560" y="1691640"/>
            <a:ext cx="3246120" cy="2971800"/>
          </a:xfrm>
          <a:prstGeom prst="roundRect">
            <a:avLst>
              <a:gd name="adj" fmla="val 2462"/>
            </a:avLst>
          </a:prstGeom>
          <a:blipFill>
            <a:blip r:embed="rId5"/>
            <a:stretch>
              <a:fillRect/>
            </a:stretch>
          </a:blipFill>
          <a:ln w="101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8092440" y="1691640"/>
            <a:ext cx="3246120" cy="2971800"/>
          </a:xfrm>
          <a:prstGeom prst="roundRect">
            <a:avLst>
              <a:gd name="adj" fmla="val 2462"/>
            </a:avLst>
          </a:prstGeom>
          <a:blipFill>
            <a:blip r:embed="rId6"/>
            <a:stretch>
              <a:fillRect/>
            </a:stretch>
          </a:blipFill>
          <a:ln w="101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868680" y="517550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2148840" y="517550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9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489A4-11B8-55F1-EB35-830004F37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unzip/ppt/media/image1.png">
            <a:extLst>
              <a:ext uri="{FF2B5EF4-FFF2-40B4-BE49-F238E27FC236}">
                <a16:creationId xmlns:a16="http://schemas.microsoft.com/office/drawing/2014/main" id="{4FEF85FB-454C-3C95-E032-1A8CC48EC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55CA119-0A31-BA57-E9B5-3844614821D4}"/>
              </a:ext>
            </a:extLst>
          </p:cNvPr>
          <p:cNvSpPr/>
          <p:nvPr/>
        </p:nvSpPr>
        <p:spPr>
          <a:xfrm>
            <a:off x="502920" y="64465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DONGCOMDOCS PROJECT</a:t>
            </a:r>
            <a:endParaRPr lang="en-US" sz="66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D414C67-50C3-046A-1A14-832ED1F98027}"/>
              </a:ext>
            </a:extLst>
          </p:cNvPr>
          <p:cNvSpPr/>
          <p:nvPr/>
        </p:nvSpPr>
        <p:spPr>
          <a:xfrm>
            <a:off x="10195560" y="64465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</a:t>
            </a:r>
            <a:endParaRPr lang="en-US" sz="66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E711B9C-B214-CFC4-7305-107D514CA73C}"/>
              </a:ext>
            </a:extLst>
          </p:cNvPr>
          <p:cNvSpPr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25BD3A3-13C3-4697-82FE-C3ACE20B5A83}"/>
              </a:ext>
            </a:extLst>
          </p:cNvPr>
          <p:cNvSpPr/>
          <p:nvPr/>
        </p:nvSpPr>
        <p:spPr>
          <a:xfrm>
            <a:off x="868680" y="74980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</a:t>
            </a:r>
            <a:r>
              <a:rPr lang="en-US" altLang="ko-KR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</a:t>
            </a:r>
            <a:r>
              <a:rPr lang="ko-KR" alt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</a:t>
            </a:r>
            <a:endParaRPr lang="en-US" sz="21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B0D670BB-8669-503E-BCDC-C0D94F20E39A}"/>
              </a:ext>
            </a:extLst>
          </p:cNvPr>
          <p:cNvSpPr/>
          <p:nvPr/>
        </p:nvSpPr>
        <p:spPr>
          <a:xfrm>
            <a:off x="868680" y="1691640"/>
            <a:ext cx="3246120" cy="2971800"/>
          </a:xfrm>
          <a:prstGeom prst="roundRect">
            <a:avLst>
              <a:gd name="adj" fmla="val 2462"/>
            </a:avLst>
          </a:prstGeom>
          <a:blipFill>
            <a:blip r:embed="rId4"/>
            <a:stretch>
              <a:fillRect/>
            </a:stretch>
          </a:blipFill>
          <a:ln w="101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F55A4E24-E5C7-6569-1634-BE916BE8BF96}"/>
              </a:ext>
            </a:extLst>
          </p:cNvPr>
          <p:cNvSpPr/>
          <p:nvPr/>
        </p:nvSpPr>
        <p:spPr>
          <a:xfrm>
            <a:off x="4480560" y="1691640"/>
            <a:ext cx="3246120" cy="2971800"/>
          </a:xfrm>
          <a:prstGeom prst="roundRect">
            <a:avLst>
              <a:gd name="adj" fmla="val 2462"/>
            </a:avLst>
          </a:prstGeom>
          <a:blipFill>
            <a:blip r:embed="rId5"/>
            <a:stretch>
              <a:fillRect/>
            </a:stretch>
          </a:blipFill>
          <a:ln w="101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174BDD4A-4E96-3ABE-9057-DA5BF67FC35A}"/>
              </a:ext>
            </a:extLst>
          </p:cNvPr>
          <p:cNvSpPr/>
          <p:nvPr/>
        </p:nvSpPr>
        <p:spPr>
          <a:xfrm>
            <a:off x="8092440" y="1691640"/>
            <a:ext cx="3246120" cy="2971800"/>
          </a:xfrm>
          <a:prstGeom prst="roundRect">
            <a:avLst>
              <a:gd name="adj" fmla="val 2462"/>
            </a:avLst>
          </a:prstGeom>
          <a:blipFill>
            <a:blip r:embed="rId6"/>
            <a:stretch>
              <a:fillRect/>
            </a:stretch>
          </a:blipFill>
          <a:ln w="101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45522463-41DE-6FE1-A5B0-D653466C8B75}"/>
              </a:ext>
            </a:extLst>
          </p:cNvPr>
          <p:cNvSpPr/>
          <p:nvPr/>
        </p:nvSpPr>
        <p:spPr>
          <a:xfrm>
            <a:off x="868680" y="517550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5278AA08-0A51-D02C-65D6-71158919865E}"/>
              </a:ext>
            </a:extLst>
          </p:cNvPr>
          <p:cNvSpPr/>
          <p:nvPr/>
        </p:nvSpPr>
        <p:spPr>
          <a:xfrm>
            <a:off x="2148840" y="517550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920" dirty="0"/>
          </a:p>
        </p:txBody>
      </p:sp>
    </p:spTree>
    <p:extLst>
      <p:ext uri="{BB962C8B-B14F-4D97-AF65-F5344CB8AC3E}">
        <p14:creationId xmlns:p14="http://schemas.microsoft.com/office/powerpoint/2010/main" val="275429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465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DONGCOMDOCS PROJECT</a:t>
            </a:r>
            <a:endParaRPr lang="en-US" sz="660" dirty="0"/>
          </a:p>
        </p:txBody>
      </p:sp>
      <p:sp>
        <p:nvSpPr>
          <p:cNvPr id="4" name="Text 1"/>
          <p:cNvSpPr/>
          <p:nvPr/>
        </p:nvSpPr>
        <p:spPr>
          <a:xfrm>
            <a:off x="10195560" y="64465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</a:t>
            </a:r>
            <a:endParaRPr lang="en-US" sz="660" dirty="0"/>
          </a:p>
        </p:txBody>
      </p:sp>
      <p:sp>
        <p:nvSpPr>
          <p:cNvPr id="5" name="Text 2"/>
          <p:cNvSpPr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68680" y="74980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 연구 로드맵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68680" y="129844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여름 계절학기에는 분석 품질을 검증하고, 사용자가 개입 가능한 운영형 시스템으로 확장합니다.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914400" y="18928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0E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1051560" y="2304288"/>
            <a:ext cx="2057400" cy="0"/>
          </a:xfrm>
          <a:prstGeom prst="line">
            <a:avLst/>
          </a:prstGeom>
          <a:noFill/>
          <a:ln w="1143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914400" y="2560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 UI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05840" y="312724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분석 프롬프트를 직접 확인·수정</a:t>
            </a:r>
            <a:endParaRPr lang="en-US" sz="850" dirty="0">
              <a:solidFill>
                <a:schemeClr val="accent4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3566160" y="18928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48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3703320" y="2304288"/>
            <a:ext cx="2057400" cy="0"/>
          </a:xfrm>
          <a:prstGeom prst="line">
            <a:avLst/>
          </a:prstGeom>
          <a:noFill/>
          <a:ln w="11430">
            <a:solidFill>
              <a:srgbClr val="FF48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3566160" y="2560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657600" y="312724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HF / 로컬 모델 / Donut 방식별 평가 파이프라인 구축</a:t>
            </a:r>
            <a:endParaRPr lang="en-US" sz="850" dirty="0">
              <a:solidFill>
                <a:schemeClr val="accent4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6217920" y="18928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C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6355080" y="2304288"/>
            <a:ext cx="2057400" cy="0"/>
          </a:xfrm>
          <a:prstGeom prst="line">
            <a:avLst/>
          </a:prstGeom>
          <a:noFill/>
          <a:ln w="11430">
            <a:solidFill>
              <a:srgbClr val="FFCE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6217920" y="2560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 Feedback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09360" y="312724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기준의 결과 검토·평가 시스템 도입</a:t>
            </a:r>
            <a:endParaRPr lang="en-US" sz="850" dirty="0">
              <a:solidFill>
                <a:schemeClr val="accent4"/>
              </a:solidFill>
            </a:endParaRPr>
          </a:p>
        </p:txBody>
      </p:sp>
      <p:sp>
        <p:nvSpPr>
          <p:cNvPr id="21" name="Text 18"/>
          <p:cNvSpPr/>
          <p:nvPr/>
        </p:nvSpPr>
        <p:spPr>
          <a:xfrm>
            <a:off x="8869680" y="18928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8B5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9006840" y="2304288"/>
            <a:ext cx="2057400" cy="0"/>
          </a:xfrm>
          <a:prstGeom prst="line">
            <a:avLst/>
          </a:prstGeom>
          <a:noFill/>
          <a:ln w="11430">
            <a:solidFill>
              <a:srgbClr val="8B5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8869680" y="2560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Operationalization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961120" y="312724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사무프로세스 적용성과 안정성 개선</a:t>
            </a:r>
            <a:endParaRPr lang="en-US" sz="850" dirty="0">
              <a:solidFill>
                <a:schemeClr val="accent4"/>
              </a:solidFill>
            </a:endParaRPr>
          </a:p>
        </p:txBody>
      </p:sp>
      <p:sp>
        <p:nvSpPr>
          <p:cNvPr id="26" name="Text 23"/>
          <p:cNvSpPr/>
          <p:nvPr/>
        </p:nvSpPr>
        <p:spPr>
          <a:xfrm>
            <a:off x="4370832" y="502462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325958" y="5559552"/>
            <a:ext cx="1145116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 연구에서는 “자동 추출 정확도”뿐 아니라, 사용자가 결과를 신뢰하고 수정할 수 있는 운영 UX까지 검증합니다.</a:t>
            </a:r>
            <a:endParaRPr lang="en-US" sz="1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8FEED-31F5-8212-BF7F-8B1E74613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unzip/ppt/media/image1.png">
            <a:extLst>
              <a:ext uri="{FF2B5EF4-FFF2-40B4-BE49-F238E27FC236}">
                <a16:creationId xmlns:a16="http://schemas.microsoft.com/office/drawing/2014/main" id="{24A1A485-1300-1CC4-56FC-54F36014B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1B48D69-2E6C-71E5-E6E1-C32C749DE848}"/>
              </a:ext>
            </a:extLst>
          </p:cNvPr>
          <p:cNvSpPr/>
          <p:nvPr/>
        </p:nvSpPr>
        <p:spPr>
          <a:xfrm>
            <a:off x="502920" y="64465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DONGCOMDOCS PROJECT</a:t>
            </a:r>
            <a:endParaRPr lang="en-US" sz="66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8001976-32C2-2AEA-D996-8E40C568A271}"/>
              </a:ext>
            </a:extLst>
          </p:cNvPr>
          <p:cNvSpPr/>
          <p:nvPr/>
        </p:nvSpPr>
        <p:spPr>
          <a:xfrm>
            <a:off x="10195560" y="64465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</a:t>
            </a:r>
            <a:endParaRPr lang="en-US" sz="66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2D4AD0A-D11F-14F7-935B-9093441DAD5A}"/>
              </a:ext>
            </a:extLst>
          </p:cNvPr>
          <p:cNvSpPr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5E3A657-2B73-0B99-653D-85EFF87C8EEA}"/>
              </a:ext>
            </a:extLst>
          </p:cNvPr>
          <p:cNvSpPr/>
          <p:nvPr/>
        </p:nvSpPr>
        <p:spPr>
          <a:xfrm>
            <a:off x="868679" y="749807"/>
            <a:ext cx="10458539" cy="56013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Q&amp;A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80603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4E43A-F228-AB2C-6B78-7CE0E4E0F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unzip/ppt/media/image1.png">
            <a:extLst>
              <a:ext uri="{FF2B5EF4-FFF2-40B4-BE49-F238E27FC236}">
                <a16:creationId xmlns:a16="http://schemas.microsoft.com/office/drawing/2014/main" id="{720A7A1D-9414-C4D8-34BA-C77D79089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708D4CF-E303-6E6D-3ADE-666EC6184E45}"/>
              </a:ext>
            </a:extLst>
          </p:cNvPr>
          <p:cNvSpPr/>
          <p:nvPr/>
        </p:nvSpPr>
        <p:spPr>
          <a:xfrm>
            <a:off x="502920" y="64465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DONGCOMDOCS PROJECT</a:t>
            </a:r>
            <a:endParaRPr lang="en-US" sz="66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12DAF30-A96C-F5BC-3378-6A54F5138B34}"/>
              </a:ext>
            </a:extLst>
          </p:cNvPr>
          <p:cNvSpPr/>
          <p:nvPr/>
        </p:nvSpPr>
        <p:spPr>
          <a:xfrm>
            <a:off x="10195560" y="64465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A9A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</a:t>
            </a:r>
            <a:endParaRPr lang="en-US" sz="66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EE40C25-7925-E20D-E74E-BFB64B43FA1F}"/>
              </a:ext>
            </a:extLst>
          </p:cNvPr>
          <p:cNvSpPr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B02BEEE-F407-7044-1493-591F197C39E6}"/>
              </a:ext>
            </a:extLst>
          </p:cNvPr>
          <p:cNvSpPr/>
          <p:nvPr/>
        </p:nvSpPr>
        <p:spPr>
          <a:xfrm>
            <a:off x="868679" y="749807"/>
            <a:ext cx="10458539" cy="56013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감사합니다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154493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829</Words>
  <Application>Microsoft Office PowerPoint</Application>
  <PresentationFormat>와이드스크린</PresentationFormat>
  <Paragraphs>200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Dongguk University CSC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DongComDocs 프로젝트 발표</dc:title>
  <dc:subject>DongComDocs 15분 발표 장표 - System2 스타일 테마</dc:subject>
  <dc:creator>OpenAI</dc:creator>
  <cp:lastModifiedBy>WoongHee Lee</cp:lastModifiedBy>
  <cp:revision>99</cp:revision>
  <dcterms:created xsi:type="dcterms:W3CDTF">2026-06-10T04:13:09Z</dcterms:created>
  <dcterms:modified xsi:type="dcterms:W3CDTF">2026-06-10T08:09:17Z</dcterms:modified>
</cp:coreProperties>
</file>