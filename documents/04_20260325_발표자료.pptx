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78" r:id="rId5"/>
    <p:sldId id="283" r:id="rId6"/>
    <p:sldId id="279" r:id="rId7"/>
    <p:sldId id="280" r:id="rId8"/>
    <p:sldId id="281" r:id="rId9"/>
    <p:sldId id="284" r:id="rId10"/>
    <p:sldId id="285" r:id="rId11"/>
    <p:sldId id="286" r:id="rId12"/>
    <p:sldId id="287" r:id="rId13"/>
    <p:sldId id="275" r:id="rId14"/>
    <p:sldId id="276" r:id="rId15"/>
    <p:sldId id="277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6" d="100"/>
          <a:sy n="96" d="100"/>
        </p:scale>
        <p:origin x="105" y="2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0792cc2d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0792cc2d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0792cc2d5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0792cc2d5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0792cc2d5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0792cc2d5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0792cc2d5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0792cc2d5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umentaidocs-production.up.railway.app/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2603</a:t>
            </a:r>
            <a:r>
              <a:rPr lang="en-US" altLang="ko" dirty="0"/>
              <a:t>25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정준호 교수님 개별연구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2020112008 이웅희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주제: 특정 사무프로세스 자동화를 위한 주요모듈 및 UI/UX개선연구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지난 발표 주요 내용 정리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-KR" altLang="en-US" dirty="0"/>
              <a:t>종합설계 대체 인정 신청서 등 교수님 주관 심사</a:t>
            </a:r>
            <a:r>
              <a:rPr lang="en-US" altLang="ko-KR" dirty="0"/>
              <a:t>/</a:t>
            </a:r>
            <a:r>
              <a:rPr lang="ko-KR" altLang="en-US" dirty="0"/>
              <a:t>평가가 필요한 경우</a:t>
            </a:r>
            <a:endParaRPr lang="en-US" altLang="ko-KR" dirty="0"/>
          </a:p>
          <a:p>
            <a:pPr lvl="1" indent="-342900">
              <a:buSzPts val="1800"/>
              <a:buAutoNum type="arabicPeriod"/>
            </a:pPr>
            <a:r>
              <a:rPr lang="ko-KR" altLang="en-US" dirty="0"/>
              <a:t>시스템에 학생들이 올리면 </a:t>
            </a:r>
            <a:r>
              <a:rPr lang="en-US" altLang="ko-KR" dirty="0"/>
              <a:t>Category</a:t>
            </a:r>
            <a:r>
              <a:rPr lang="ko-KR" altLang="en-US" dirty="0"/>
              <a:t>별로 분류 후 교수님께 메일로 포워딩 하는 기능</a:t>
            </a:r>
            <a:endParaRPr lang="en-US" altLang="ko-KR" dirty="0"/>
          </a:p>
          <a:p>
            <a:pPr>
              <a:buAutoNum type="arabicPeriod"/>
            </a:pPr>
            <a:r>
              <a:rPr lang="ko-KR" altLang="en-US" dirty="0"/>
              <a:t>독립적 인터페이스 구현 보다는 </a:t>
            </a:r>
            <a:r>
              <a:rPr lang="en-US" altLang="ko-KR" dirty="0"/>
              <a:t>API </a:t>
            </a:r>
            <a:r>
              <a:rPr lang="ko-KR" altLang="en-US" dirty="0"/>
              <a:t>모듈화에 집중</a:t>
            </a:r>
            <a:endParaRPr lang="en-US" altLang="ko-KR" dirty="0"/>
          </a:p>
          <a:p>
            <a:pPr>
              <a:buAutoNum type="arabicPeriod"/>
            </a:pPr>
            <a:r>
              <a:rPr lang="ko-KR" altLang="en-US" dirty="0"/>
              <a:t>모델간 성능 테스트</a:t>
            </a:r>
            <a:endParaRPr lang="en-US" altLang="ko-KR" dirty="0"/>
          </a:p>
          <a:p>
            <a:pPr lvl="1">
              <a:buAutoNum type="arabicPeriod"/>
            </a:pPr>
            <a:r>
              <a:rPr lang="en-US" altLang="ko-KR" dirty="0"/>
              <a:t>OCR </a:t>
            </a:r>
            <a:r>
              <a:rPr lang="ko-KR" altLang="en-US" dirty="0"/>
              <a:t>처리가 잘 되는 폰트로 변환해서 테스트</a:t>
            </a:r>
            <a:endParaRPr lang="en-US" altLang="ko-KR" dirty="0"/>
          </a:p>
          <a:p>
            <a:pPr lvl="1">
              <a:buAutoNum type="arabicPeriod"/>
            </a:pPr>
            <a:r>
              <a:rPr lang="ko-KR" altLang="en-US" dirty="0"/>
              <a:t>일반적인 폰트 하에서 테스트</a:t>
            </a:r>
            <a:endParaRPr lang="en-US" altLang="ko-KR" dirty="0"/>
          </a:p>
          <a:p>
            <a:pPr lvl="1">
              <a:buAutoNum type="arabicPeriod"/>
            </a:pPr>
            <a:r>
              <a:rPr lang="en-US" altLang="ko-KR" dirty="0"/>
              <a:t>OCR</a:t>
            </a:r>
            <a:r>
              <a:rPr lang="ko-KR" altLang="en-US" dirty="0"/>
              <a:t> 성능이 잘 나오는 폰트로 입력할 것을 정책으로 할 것인가</a:t>
            </a:r>
            <a:r>
              <a:rPr lang="en-US" altLang="ko-KR" dirty="0"/>
              <a:t>?</a:t>
            </a:r>
          </a:p>
          <a:p>
            <a:pPr>
              <a:buAutoNum type="arabicPeriod"/>
            </a:pPr>
            <a:r>
              <a:rPr lang="en-US" altLang="ko-KR" dirty="0"/>
              <a:t>RESTful API </a:t>
            </a:r>
            <a:r>
              <a:rPr lang="ko-KR" altLang="en-US" dirty="0"/>
              <a:t>설계가 더 필요</a:t>
            </a:r>
            <a:endParaRPr lang="en-US" altLang="ko-K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오늘 발표 주요 내용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-KR" altLang="en-US" dirty="0"/>
              <a:t>폰트</a:t>
            </a:r>
            <a:endParaRPr lang="en-US" altLang="ko-KR" dirty="0"/>
          </a:p>
          <a:p>
            <a:pPr lvl="1">
              <a:buSzPts val="1800"/>
              <a:buAutoNum type="arabicPeriod"/>
            </a:pPr>
            <a:r>
              <a:rPr lang="en-US" dirty="0"/>
              <a:t>OCR </a:t>
            </a:r>
            <a:r>
              <a:rPr lang="ko-KR" altLang="en-US" dirty="0"/>
              <a:t>특화 폰트</a:t>
            </a:r>
            <a:endParaRPr lang="en-US" altLang="ko-KR" dirty="0"/>
          </a:p>
          <a:p>
            <a:pPr lvl="1">
              <a:buSzPts val="1800"/>
              <a:buAutoNum type="arabicPeriod"/>
            </a:pPr>
            <a:r>
              <a:rPr lang="ko-KR" altLang="en-US" dirty="0"/>
              <a:t>대중적인 폰트들 중에서 </a:t>
            </a:r>
            <a:r>
              <a:rPr lang="en-US" altLang="ko-KR" dirty="0"/>
              <a:t>OCR</a:t>
            </a:r>
            <a:r>
              <a:rPr lang="ko-KR" altLang="en-US" dirty="0"/>
              <a:t>이 잘되는 폰트</a:t>
            </a:r>
            <a:endParaRPr lang="en-US" altLang="ko-KR" dirty="0"/>
          </a:p>
          <a:p>
            <a:pPr>
              <a:buAutoNum type="arabicPeriod"/>
            </a:pPr>
            <a:r>
              <a:rPr lang="ko-KR" altLang="en-US" dirty="0"/>
              <a:t>모델</a:t>
            </a:r>
            <a:endParaRPr lang="en-US" altLang="ko-KR" dirty="0"/>
          </a:p>
          <a:p>
            <a:pPr lvl="1">
              <a:buAutoNum type="arabicPeriod"/>
            </a:pPr>
            <a:r>
              <a:rPr lang="ko-KR" altLang="en-US" dirty="0"/>
              <a:t>추가 리서치</a:t>
            </a:r>
            <a:endParaRPr lang="en-US" altLang="ko-KR" dirty="0"/>
          </a:p>
          <a:p>
            <a:pPr lvl="1">
              <a:buAutoNum type="arabicPeriod"/>
            </a:pPr>
            <a:r>
              <a:rPr lang="en-US" altLang="ko-KR" dirty="0" err="1"/>
              <a:t>MultiModal</a:t>
            </a:r>
            <a:r>
              <a:rPr lang="en-US" altLang="ko-KR" dirty="0"/>
              <a:t> </a:t>
            </a:r>
            <a:r>
              <a:rPr lang="ko-KR" altLang="en-US" dirty="0"/>
              <a:t>모델 벤치마크</a:t>
            </a:r>
            <a:endParaRPr lang="en-US" altLang="ko-KR" dirty="0"/>
          </a:p>
          <a:p>
            <a:pPr lvl="1">
              <a:buAutoNum type="arabicPeriod"/>
            </a:pPr>
            <a:r>
              <a:rPr lang="en-US" altLang="ko-KR" dirty="0"/>
              <a:t>OCR </a:t>
            </a:r>
            <a:r>
              <a:rPr lang="ko-KR" altLang="en-US" dirty="0"/>
              <a:t>모델 벤치마크</a:t>
            </a:r>
            <a:endParaRPr lang="en-US" altLang="ko-KR" dirty="0"/>
          </a:p>
          <a:p>
            <a:pPr lvl="1">
              <a:buAutoNum type="arabicPeriod"/>
            </a:pPr>
            <a:r>
              <a:rPr lang="ko-KR" altLang="en-US" dirty="0"/>
              <a:t>모델 파이프라인 방식 결정</a:t>
            </a:r>
            <a:endParaRPr lang="en-US" altLang="ko-KR" dirty="0"/>
          </a:p>
          <a:p>
            <a:pPr>
              <a:buAutoNum type="arabicPeriod"/>
            </a:pPr>
            <a:r>
              <a:rPr lang="en-US" altLang="ko-KR" dirty="0"/>
              <a:t>API </a:t>
            </a:r>
            <a:r>
              <a:rPr lang="ko-KR" altLang="en-US" dirty="0"/>
              <a:t>설계</a:t>
            </a:r>
            <a:endParaRPr lang="en-US" altLang="ko-KR" dirty="0"/>
          </a:p>
          <a:p>
            <a:pPr lvl="1">
              <a:buAutoNum type="arabicPeriod"/>
            </a:pPr>
            <a:r>
              <a:rPr lang="en-US" altLang="ko-KR" dirty="0"/>
              <a:t>7</a:t>
            </a:r>
            <a:r>
              <a:rPr lang="ko-KR" altLang="en-US" dirty="0"/>
              <a:t>가지 </a:t>
            </a:r>
            <a:r>
              <a:rPr lang="en-US" altLang="ko-KR" dirty="0"/>
              <a:t>API </a:t>
            </a:r>
            <a:r>
              <a:rPr lang="ko-KR" altLang="en-US" dirty="0"/>
              <a:t>설계 </a:t>
            </a:r>
            <a:r>
              <a:rPr lang="en-US" altLang="ko-KR" dirty="0"/>
              <a:t>(</a:t>
            </a:r>
            <a:r>
              <a:rPr lang="ko-KR" altLang="en-US" dirty="0"/>
              <a:t>추가</a:t>
            </a:r>
            <a:r>
              <a:rPr lang="en-US" altLang="ko-KR" dirty="0"/>
              <a:t>/</a:t>
            </a:r>
            <a:r>
              <a:rPr lang="ko-KR" altLang="en-US" dirty="0"/>
              <a:t>변경 가능성 有</a:t>
            </a:r>
            <a:r>
              <a:rPr lang="en-US" altLang="ko-KR" dirty="0"/>
              <a:t>)</a:t>
            </a:r>
          </a:p>
          <a:p>
            <a:pPr lvl="1">
              <a:buAutoNum type="arabicPeriod"/>
            </a:pPr>
            <a:endParaRPr lang="en-US" altLang="ko-KR" dirty="0"/>
          </a:p>
          <a:p>
            <a:pPr lvl="1">
              <a:buAutoNum type="arabicPeriod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926865-8402-111C-8D81-6BBA3A127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폰트</a:t>
            </a:r>
            <a:r>
              <a:rPr lang="en-US" altLang="ko-KR" dirty="0"/>
              <a:t>-OCR </a:t>
            </a:r>
            <a:r>
              <a:rPr lang="ko-KR" altLang="en-US" dirty="0"/>
              <a:t>특화 폰트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4D2E23-0832-BC8A-B3F5-F0E8949AB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OCR-A</a:t>
            </a:r>
          </a:p>
          <a:p>
            <a:pPr lvl="1"/>
            <a:r>
              <a:rPr lang="ko-KR" altLang="en-US" dirty="0"/>
              <a:t>각진 기하학적 형태</a:t>
            </a:r>
            <a:endParaRPr lang="en-US" altLang="ko-KR" dirty="0"/>
          </a:p>
          <a:p>
            <a:pPr lvl="1"/>
            <a:r>
              <a:rPr lang="ko-KR" altLang="en-US" dirty="0"/>
              <a:t>사람이 읽기엔 약간 불편하지만 기계가 인식하기에 좋음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596900" lvl="1" indent="0">
              <a:buNone/>
            </a:pPr>
            <a:endParaRPr lang="ko-KR" altLang="en-US" dirty="0"/>
          </a:p>
        </p:txBody>
      </p:sp>
      <p:pic>
        <p:nvPicPr>
          <p:cNvPr id="1026" name="Picture 2" descr="다양한 스타일의 OCR A 서체를 표시하는 카드">
            <a:extLst>
              <a:ext uri="{FF2B5EF4-FFF2-40B4-BE49-F238E27FC236}">
                <a16:creationId xmlns:a16="http://schemas.microsoft.com/office/drawing/2014/main" id="{CFC1DB77-A425-F8C1-366D-F35E355AE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321" y="2899987"/>
            <a:ext cx="3337775" cy="1668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6439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82F77-EABC-E630-DEBC-EF1F80CFA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D0AAA-AD94-F87A-6DED-FCE1DDAED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폰트</a:t>
            </a:r>
            <a:r>
              <a:rPr lang="en-US" altLang="ko-KR" dirty="0"/>
              <a:t>-OCR </a:t>
            </a:r>
            <a:r>
              <a:rPr lang="ko-KR" altLang="en-US" dirty="0"/>
              <a:t>특화 폰트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6B8078-9074-8B27-725F-6F83B1DDC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OCR-B</a:t>
            </a:r>
          </a:p>
          <a:p>
            <a:pPr lvl="1"/>
            <a:r>
              <a:rPr lang="en-US" altLang="ko-KR" dirty="0"/>
              <a:t>OCR-A</a:t>
            </a:r>
            <a:r>
              <a:rPr lang="ko-KR" altLang="en-US" dirty="0"/>
              <a:t>에서 보다 사람이 읽기 쉬운 형태로 발전한 폰트</a:t>
            </a:r>
            <a:endParaRPr lang="en-US" altLang="ko-KR" dirty="0"/>
          </a:p>
          <a:p>
            <a:pPr lvl="1"/>
            <a:r>
              <a:rPr lang="ko-KR" altLang="en-US" dirty="0"/>
              <a:t>최신의 글꼴들 보다는 가독성이 떨어지지만 </a:t>
            </a:r>
            <a:r>
              <a:rPr lang="en-US" altLang="ko-KR" dirty="0"/>
              <a:t>OCR-A </a:t>
            </a:r>
            <a:r>
              <a:rPr lang="ko-KR" altLang="en-US" dirty="0"/>
              <a:t>보다 사람이 읽기에 좋다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OCR-A</a:t>
            </a:r>
            <a:r>
              <a:rPr lang="ko-KR" altLang="en-US" dirty="0"/>
              <a:t>보다는 낮지만 여전히 높은 </a:t>
            </a:r>
            <a:r>
              <a:rPr lang="en-US" altLang="ko-KR" dirty="0"/>
              <a:t>OCR</a:t>
            </a:r>
            <a:r>
              <a:rPr lang="ko-KR" altLang="en-US" dirty="0"/>
              <a:t>인식률을 보인다</a:t>
            </a:r>
            <a:r>
              <a:rPr lang="en-US" altLang="ko-KR" dirty="0"/>
              <a:t>.</a:t>
            </a:r>
          </a:p>
          <a:p>
            <a:pPr marL="596900" lvl="1" indent="0">
              <a:buNone/>
            </a:pPr>
            <a:endParaRPr lang="ko-KR" altLang="en-US" dirty="0"/>
          </a:p>
        </p:txBody>
      </p:sp>
      <p:pic>
        <p:nvPicPr>
          <p:cNvPr id="2050" name="Picture 2" descr="다양한 스타일의 OCR B 서체를 표시하는 카드">
            <a:extLst>
              <a:ext uri="{FF2B5EF4-FFF2-40B4-BE49-F238E27FC236}">
                <a16:creationId xmlns:a16="http://schemas.microsoft.com/office/drawing/2014/main" id="{FD843D23-CC4F-F8F9-1ACF-CFFCE18A5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654" y="2899986"/>
            <a:ext cx="3337778" cy="1668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5774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7A19EF-B2C8-534E-B888-95F049D32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폰트</a:t>
            </a:r>
            <a:r>
              <a:rPr lang="en-US" altLang="ko-KR" dirty="0"/>
              <a:t>-OCR</a:t>
            </a:r>
            <a:r>
              <a:rPr lang="ko-KR" altLang="en-US" dirty="0"/>
              <a:t> 인식이 잘 되는 폰트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7D19AA-40BB-8ECA-3AB2-9DC6BDA9C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폰트에 따른 </a:t>
            </a:r>
            <a:r>
              <a:rPr lang="en-US" altLang="ko-KR" dirty="0"/>
              <a:t>OCR </a:t>
            </a:r>
            <a:r>
              <a:rPr lang="ko-KR" altLang="en-US" dirty="0"/>
              <a:t>엔진의 정확도 연구</a:t>
            </a:r>
            <a:endParaRPr lang="en-US" altLang="ko-KR" dirty="0"/>
          </a:p>
          <a:p>
            <a:pPr lvl="1"/>
            <a:r>
              <a:rPr lang="ko-KR" altLang="en-US" dirty="0"/>
              <a:t>기준 모델</a:t>
            </a:r>
            <a:r>
              <a:rPr lang="en-US" altLang="ko-KR" dirty="0"/>
              <a:t>: TESSERACT OCR</a:t>
            </a:r>
          </a:p>
          <a:p>
            <a:pPr lvl="1"/>
            <a:r>
              <a:rPr lang="ko-KR" altLang="en-US" dirty="0"/>
              <a:t>대상 폰트</a:t>
            </a:r>
            <a:endParaRPr lang="en-US" altLang="ko-KR" dirty="0"/>
          </a:p>
          <a:p>
            <a:pPr lvl="2"/>
            <a:r>
              <a:rPr lang="en-US" altLang="ko-KR" dirty="0"/>
              <a:t>Sans-serif (</a:t>
            </a:r>
            <a:r>
              <a:rPr lang="ko-KR" altLang="en-US" dirty="0" err="1"/>
              <a:t>산세리프</a:t>
            </a:r>
            <a:r>
              <a:rPr lang="en-US" altLang="ko-KR" dirty="0"/>
              <a:t>): Arial, Calibri, </a:t>
            </a:r>
            <a:r>
              <a:rPr lang="en-US" altLang="ko-KR" dirty="0">
                <a:solidFill>
                  <a:srgbClr val="0070C0"/>
                </a:solidFill>
              </a:rPr>
              <a:t>Comic Sans MS</a:t>
            </a:r>
          </a:p>
          <a:p>
            <a:pPr lvl="2"/>
            <a:r>
              <a:rPr lang="en-US" altLang="ko-KR" dirty="0"/>
              <a:t>Serif (</a:t>
            </a:r>
            <a:r>
              <a:rPr lang="ko-KR" altLang="en-US" dirty="0" err="1"/>
              <a:t>세리프</a:t>
            </a:r>
            <a:r>
              <a:rPr lang="en-US" altLang="ko-KR" dirty="0"/>
              <a:t>): </a:t>
            </a:r>
            <a:r>
              <a:rPr lang="en-US" altLang="ko-KR" dirty="0">
                <a:solidFill>
                  <a:srgbClr val="FF0000"/>
                </a:solidFill>
              </a:rPr>
              <a:t>Times New Roman</a:t>
            </a:r>
          </a:p>
          <a:p>
            <a:pPr lvl="2"/>
            <a:r>
              <a:rPr lang="en-US" altLang="ko-KR" dirty="0"/>
              <a:t>Monospaced (</a:t>
            </a:r>
            <a:r>
              <a:rPr lang="ko-KR" altLang="en-US" dirty="0" err="1"/>
              <a:t>고정폭</a:t>
            </a:r>
            <a:r>
              <a:rPr lang="en-US" altLang="ko-KR" dirty="0"/>
              <a:t>): Courier New</a:t>
            </a:r>
          </a:p>
          <a:p>
            <a:pPr lvl="1"/>
            <a:r>
              <a:rPr lang="ko-KR" altLang="en-US" dirty="0"/>
              <a:t>결론</a:t>
            </a:r>
            <a:endParaRPr lang="en-US" altLang="ko-KR" dirty="0"/>
          </a:p>
          <a:p>
            <a:pPr lvl="2"/>
            <a:r>
              <a:rPr lang="ko-KR" altLang="en-US" dirty="0"/>
              <a:t>모든 폰트에서 폰트 크기가 커질수록 정확도가 향상</a:t>
            </a:r>
            <a:endParaRPr lang="en-US" altLang="ko-KR" dirty="0"/>
          </a:p>
          <a:p>
            <a:pPr lvl="2"/>
            <a:r>
              <a:rPr lang="en-US" altLang="ko-KR" dirty="0"/>
              <a:t>12pt </a:t>
            </a:r>
            <a:r>
              <a:rPr lang="ko-KR" altLang="en-US" dirty="0"/>
              <a:t>이상에서 안정적인 결과가 나타남</a:t>
            </a:r>
            <a:endParaRPr lang="en-US" altLang="ko-KR" dirty="0"/>
          </a:p>
          <a:p>
            <a:pPr lvl="2"/>
            <a:r>
              <a:rPr lang="ko-KR" altLang="en-US" dirty="0"/>
              <a:t>일반적으로 정확도는 </a:t>
            </a:r>
            <a:r>
              <a:rPr lang="ko-KR" altLang="en-US" dirty="0" err="1"/>
              <a:t>세리프</a:t>
            </a:r>
            <a:r>
              <a:rPr lang="ko-KR" altLang="en-US" dirty="0"/>
              <a:t> </a:t>
            </a:r>
            <a:r>
              <a:rPr lang="en-US" altLang="ko-KR" dirty="0"/>
              <a:t>&lt;&lt; </a:t>
            </a:r>
            <a:r>
              <a:rPr lang="ko-KR" altLang="en-US" dirty="0" err="1"/>
              <a:t>산세리프</a:t>
            </a:r>
            <a:endParaRPr lang="en-US" altLang="ko-KR" dirty="0"/>
          </a:p>
          <a:p>
            <a:pPr lvl="2"/>
            <a:r>
              <a:rPr lang="en-US" altLang="ko-KR" dirty="0"/>
              <a:t>Serif</a:t>
            </a:r>
            <a:r>
              <a:rPr lang="ko-KR" altLang="en-US" dirty="0"/>
              <a:t>는 글자 끝 부분에 장식 획이 있어서</a:t>
            </a:r>
            <a:r>
              <a:rPr lang="en-US" altLang="ko-KR" dirty="0"/>
              <a:t>, </a:t>
            </a:r>
            <a:r>
              <a:rPr lang="ko-KR" altLang="en-US" dirty="0"/>
              <a:t>오인식 가능성이 높음</a:t>
            </a:r>
            <a:endParaRPr lang="en-US" altLang="ko-KR" dirty="0"/>
          </a:p>
          <a:p>
            <a:pPr lvl="2"/>
            <a:r>
              <a:rPr lang="ko-KR" altLang="en-US" dirty="0"/>
              <a:t>반면 </a:t>
            </a:r>
            <a:r>
              <a:rPr lang="en-US" altLang="ko-KR" dirty="0"/>
              <a:t>San-serif</a:t>
            </a:r>
            <a:r>
              <a:rPr lang="ko-KR" altLang="en-US" dirty="0"/>
              <a:t> 계열은 획의 굵기가 일정해서 이진화 </a:t>
            </a:r>
            <a:r>
              <a:rPr lang="ko-KR" altLang="en-US" dirty="0" err="1"/>
              <a:t>과정중</a:t>
            </a:r>
            <a:r>
              <a:rPr lang="ko-KR" altLang="en-US" dirty="0"/>
              <a:t> 정보 손실이 적음</a:t>
            </a:r>
            <a:endParaRPr lang="en-US" altLang="ko-KR" sz="1300" dirty="0"/>
          </a:p>
          <a:p>
            <a:endParaRPr lang="en-US" altLang="ko-KR" sz="1300" dirty="0"/>
          </a:p>
          <a:p>
            <a:r>
              <a:rPr lang="en-US" altLang="ko-KR" sz="1300" dirty="0"/>
              <a:t>[1] M. A. S. </a:t>
            </a:r>
            <a:r>
              <a:rPr lang="en-US" altLang="ko-KR" sz="1300" dirty="0" err="1"/>
              <a:t>Rezvi</a:t>
            </a:r>
            <a:r>
              <a:rPr lang="en-US" altLang="ko-KR" sz="1300" dirty="0"/>
              <a:t>, M. S. Islam, M. R. Islam, and M. A. Rahaman, "The Effect of Font Variation in the Accuracy of Image to Text Conversion," in </a:t>
            </a:r>
            <a:r>
              <a:rPr lang="en-US" altLang="ko-KR" sz="1300" i="1" dirty="0"/>
              <a:t>Proc. 13th Int. Conf. Agents </a:t>
            </a:r>
            <a:r>
              <a:rPr lang="en-US" altLang="ko-KR" sz="1300" i="1" dirty="0" err="1"/>
              <a:t>Artif</a:t>
            </a:r>
            <a:r>
              <a:rPr lang="en-US" altLang="ko-KR" sz="1300" i="1" dirty="0"/>
              <a:t>. </a:t>
            </a:r>
            <a:r>
              <a:rPr lang="en-US" altLang="ko-KR" sz="1300" i="1" dirty="0" err="1"/>
              <a:t>Intell</a:t>
            </a:r>
            <a:r>
              <a:rPr lang="en-US" altLang="ko-KR" sz="1300" i="1" dirty="0"/>
              <a:t>. (ICAART 2021)</a:t>
            </a:r>
            <a:r>
              <a:rPr lang="en-US" altLang="ko-KR" sz="1300" dirty="0"/>
              <a:t>, vol. 2, 2021, pp. 643-650.</a:t>
            </a:r>
            <a:endParaRPr lang="ko-KR" altLang="en-US" sz="13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B36D26-D99B-BE99-7AA5-7669B9A8F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41" y="1234041"/>
            <a:ext cx="2130391" cy="229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354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32477-03FA-8EEB-22B9-4681B082B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폰트</a:t>
            </a:r>
            <a:r>
              <a:rPr lang="en-US" altLang="ko-KR" dirty="0"/>
              <a:t>-OCR</a:t>
            </a:r>
            <a:r>
              <a:rPr lang="ko-KR" altLang="en-US" dirty="0"/>
              <a:t> 인식이 잘 되는 한글 폰트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C821D4-F0A4-3F1D-30B8-99CEE3140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281506" cy="3416400"/>
          </a:xfrm>
        </p:spPr>
        <p:txBody>
          <a:bodyPr/>
          <a:lstStyle/>
          <a:p>
            <a:r>
              <a:rPr lang="en-US" altLang="ko-KR" dirty="0"/>
              <a:t>San-serif</a:t>
            </a:r>
            <a:r>
              <a:rPr lang="ko-KR" altLang="en-US" dirty="0"/>
              <a:t> 계열</a:t>
            </a:r>
            <a:r>
              <a:rPr lang="en-US" altLang="ko-KR" dirty="0"/>
              <a:t>(OCR </a:t>
            </a:r>
            <a:r>
              <a:rPr lang="ko-KR" altLang="en-US" dirty="0"/>
              <a:t>유리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 err="1"/>
              <a:t>본고딕</a:t>
            </a:r>
            <a:endParaRPr lang="en-US" altLang="ko-KR" dirty="0"/>
          </a:p>
          <a:p>
            <a:pPr lvl="1"/>
            <a:r>
              <a:rPr lang="ko-KR" altLang="en-US" dirty="0"/>
              <a:t>나눔고딕</a:t>
            </a:r>
            <a:endParaRPr lang="en-US" altLang="ko-KR" dirty="0"/>
          </a:p>
          <a:p>
            <a:pPr lvl="1"/>
            <a:r>
              <a:rPr lang="ko-KR" altLang="en-US" dirty="0" err="1"/>
              <a:t>맑은고딕</a:t>
            </a:r>
            <a:endParaRPr lang="en-US" altLang="ko-KR" dirty="0"/>
          </a:p>
          <a:p>
            <a:pPr lvl="1"/>
            <a:r>
              <a:rPr lang="ko-KR" altLang="en-US" dirty="0" err="1"/>
              <a:t>프리텐다드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Serif</a:t>
            </a:r>
            <a:r>
              <a:rPr lang="ko-KR" altLang="en-US" dirty="0"/>
              <a:t> 계열</a:t>
            </a:r>
            <a:r>
              <a:rPr lang="en-US" altLang="ko-KR" dirty="0"/>
              <a:t>(OCR </a:t>
            </a:r>
            <a:r>
              <a:rPr lang="ko-KR" altLang="en-US" dirty="0"/>
              <a:t>불리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 err="1"/>
              <a:t>본명조</a:t>
            </a:r>
            <a:endParaRPr lang="en-US" altLang="ko-KR" dirty="0"/>
          </a:p>
          <a:p>
            <a:pPr lvl="1"/>
            <a:r>
              <a:rPr lang="ko-KR" altLang="en-US" dirty="0" err="1"/>
              <a:t>나눔명조</a:t>
            </a:r>
            <a:endParaRPr lang="en-US" altLang="ko-KR" dirty="0"/>
          </a:p>
          <a:p>
            <a:pPr lvl="1"/>
            <a:r>
              <a:rPr lang="ko-KR" altLang="en-US" dirty="0"/>
              <a:t>바탕체</a:t>
            </a:r>
            <a:endParaRPr lang="en-US" altLang="ko-KR" dirty="0"/>
          </a:p>
          <a:p>
            <a:pPr lvl="1"/>
            <a:r>
              <a:rPr lang="ko-KR" altLang="en-US" dirty="0"/>
              <a:t>궁서체</a:t>
            </a:r>
            <a:endParaRPr lang="en-US" altLang="ko-KR" dirty="0"/>
          </a:p>
          <a:p>
            <a:pPr lvl="1"/>
            <a:r>
              <a:rPr lang="ko-KR" altLang="en-US" dirty="0" err="1"/>
              <a:t>함초롱바탕</a:t>
            </a:r>
            <a:endParaRPr lang="ko-KR" altLang="en-US" dirty="0"/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C81FFC53-1043-C2E5-B189-F922B6A5F47A}"/>
              </a:ext>
            </a:extLst>
          </p:cNvPr>
          <p:cNvSpPr txBox="1">
            <a:spLocks/>
          </p:cNvSpPr>
          <p:nvPr/>
        </p:nvSpPr>
        <p:spPr>
          <a:xfrm>
            <a:off x="4571999" y="1152475"/>
            <a:ext cx="412982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sz="1400" dirty="0"/>
              <a:t>모듈 개발할 때는 실제 업무에 활용되는 실 문서</a:t>
            </a:r>
            <a:r>
              <a:rPr lang="en-US" altLang="ko-KR" sz="1400" dirty="0"/>
              <a:t>(pdf </a:t>
            </a:r>
            <a:r>
              <a:rPr lang="ko-KR" altLang="en-US" sz="1400" dirty="0"/>
              <a:t>등</a:t>
            </a:r>
            <a:r>
              <a:rPr lang="en-US" altLang="ko-KR" sz="1400" dirty="0"/>
              <a:t>)</a:t>
            </a:r>
            <a:r>
              <a:rPr lang="ko-KR" altLang="en-US" sz="1400" dirty="0"/>
              <a:t>를 대상으로 테스트</a:t>
            </a:r>
            <a:endParaRPr lang="en-US" altLang="ko-KR" sz="1400" dirty="0"/>
          </a:p>
          <a:p>
            <a:pPr marL="114300" indent="0">
              <a:buNone/>
            </a:pPr>
            <a:endParaRPr lang="en-US" altLang="ko-KR" sz="1400" dirty="0"/>
          </a:p>
          <a:p>
            <a:pPr marL="114300" indent="0">
              <a:buNone/>
            </a:pPr>
            <a:endParaRPr lang="en-US" altLang="ko-KR" sz="1400" dirty="0"/>
          </a:p>
          <a:p>
            <a:r>
              <a:rPr lang="ko-KR" altLang="en-US" sz="1400" dirty="0"/>
              <a:t>추후 성능평가 시에는 </a:t>
            </a:r>
            <a:r>
              <a:rPr lang="en-US" altLang="ko-KR" sz="1400" dirty="0"/>
              <a:t>San-serif</a:t>
            </a:r>
            <a:r>
              <a:rPr lang="ko-KR" altLang="en-US" sz="1400" dirty="0"/>
              <a:t> 계열 폰트로 작성된 문서를 대상으로 평가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EF0D9E2-3437-323C-6262-4A039DAAC18D}"/>
              </a:ext>
            </a:extLst>
          </p:cNvPr>
          <p:cNvCxnSpPr/>
          <p:nvPr/>
        </p:nvCxnSpPr>
        <p:spPr>
          <a:xfrm>
            <a:off x="4091189" y="1152475"/>
            <a:ext cx="0" cy="3333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612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7BF5BD-DEC1-E0B7-33A9-EE8A09B7C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모델</a:t>
            </a:r>
            <a:r>
              <a:rPr lang="en-US" altLang="ko-KR" dirty="0"/>
              <a:t>: </a:t>
            </a:r>
            <a:r>
              <a:rPr lang="ko-KR" altLang="en-US" dirty="0"/>
              <a:t>추가 리서치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3C9223-E21B-9F86-68D8-CCAD8B14B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61700"/>
          </a:xfrm>
        </p:spPr>
        <p:txBody>
          <a:bodyPr/>
          <a:lstStyle/>
          <a:p>
            <a:r>
              <a:rPr lang="ko-KR" altLang="en-US" dirty="0"/>
              <a:t>지난주까지 제안한 방식 </a:t>
            </a:r>
            <a:r>
              <a:rPr lang="en-US" altLang="ko-KR" dirty="0"/>
              <a:t>2</a:t>
            </a:r>
            <a:r>
              <a:rPr lang="ko-KR" altLang="en-US" dirty="0"/>
              <a:t>가지</a:t>
            </a:r>
            <a:endParaRPr lang="en-US" altLang="ko-KR" dirty="0"/>
          </a:p>
          <a:p>
            <a:pPr lvl="1"/>
            <a:r>
              <a:rPr lang="en-US" altLang="ko-KR" dirty="0"/>
              <a:t>Donut </a:t>
            </a:r>
            <a:r>
              <a:rPr lang="ko-KR" altLang="en-US" dirty="0"/>
              <a:t>모델</a:t>
            </a:r>
            <a:endParaRPr lang="en-US" altLang="ko-KR" dirty="0"/>
          </a:p>
          <a:p>
            <a:pPr lvl="2"/>
            <a:r>
              <a:rPr lang="en-US" altLang="ko-KR" dirty="0"/>
              <a:t>Naver AI Lab</a:t>
            </a:r>
            <a:r>
              <a:rPr lang="ko-KR" altLang="en-US" dirty="0"/>
              <a:t>에서 개발한 </a:t>
            </a:r>
            <a:r>
              <a:rPr lang="en-US" altLang="ko-KR" dirty="0"/>
              <a:t>OCR-free </a:t>
            </a:r>
            <a:r>
              <a:rPr lang="ko-KR" altLang="en-US" dirty="0"/>
              <a:t>모델</a:t>
            </a:r>
            <a:endParaRPr lang="en-US" altLang="ko-KR" dirty="0"/>
          </a:p>
          <a:p>
            <a:pPr lvl="2"/>
            <a:r>
              <a:rPr lang="ko-KR" altLang="en-US" dirty="0"/>
              <a:t>한국어에 강함</a:t>
            </a:r>
            <a:endParaRPr lang="en-US" altLang="ko-KR" dirty="0"/>
          </a:p>
          <a:p>
            <a:pPr lvl="1"/>
            <a:r>
              <a:rPr lang="en-US" altLang="ko-KR" dirty="0"/>
              <a:t>OCR + LayoutLMv1</a:t>
            </a:r>
          </a:p>
          <a:p>
            <a:pPr lvl="2"/>
            <a:r>
              <a:rPr lang="en-US" altLang="ko-KR" dirty="0" err="1"/>
              <a:t>MicroSoft</a:t>
            </a:r>
            <a:r>
              <a:rPr lang="ko-KR" altLang="en-US" dirty="0"/>
              <a:t>에서 개발한 모델 </a:t>
            </a:r>
            <a:r>
              <a:rPr lang="ko-KR" altLang="en-US" dirty="0" err="1"/>
              <a:t>앞단에</a:t>
            </a:r>
            <a:r>
              <a:rPr lang="ko-KR" altLang="en-US" dirty="0"/>
              <a:t> </a:t>
            </a:r>
            <a:r>
              <a:rPr lang="en-US" altLang="ko-KR" dirty="0"/>
              <a:t>OCR</a:t>
            </a:r>
            <a:r>
              <a:rPr lang="ko-KR" altLang="en-US" dirty="0"/>
              <a:t>을 붙인 파이프라인</a:t>
            </a:r>
            <a:endParaRPr lang="en-US" altLang="ko-KR" dirty="0"/>
          </a:p>
          <a:p>
            <a:pPr lvl="2"/>
            <a:r>
              <a:rPr lang="ko-KR" altLang="en-US" dirty="0"/>
              <a:t>문서 내 위치 정보까지 고려하여 맥락 이해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추가 조사</a:t>
            </a:r>
            <a:endParaRPr lang="en-US" altLang="ko-KR" dirty="0"/>
          </a:p>
          <a:p>
            <a:pPr lvl="1"/>
            <a:r>
              <a:rPr lang="ko-KR" altLang="en-US" dirty="0"/>
              <a:t>최신 동향</a:t>
            </a:r>
            <a:r>
              <a:rPr lang="en-US" altLang="ko-KR" dirty="0"/>
              <a:t>: Native Multimodal Models</a:t>
            </a:r>
          </a:p>
          <a:p>
            <a:pPr lvl="1"/>
            <a:r>
              <a:rPr lang="ko-KR" altLang="en-US" dirty="0"/>
              <a:t>특징</a:t>
            </a:r>
            <a:r>
              <a:rPr lang="en-US" altLang="ko-KR" dirty="0"/>
              <a:t>: </a:t>
            </a:r>
            <a:r>
              <a:rPr lang="ko-KR" altLang="en-US" dirty="0"/>
              <a:t>별도의 </a:t>
            </a:r>
            <a:r>
              <a:rPr lang="en-US" altLang="ko-KR" dirty="0"/>
              <a:t>OCR </a:t>
            </a:r>
            <a:r>
              <a:rPr lang="ko-KR" altLang="en-US" dirty="0"/>
              <a:t>엔진이나 레이아웃 분석기 없이 모델 자체가 픽셀의 정보를 직접 읽고 텍스트와 좌표를 함께 이해</a:t>
            </a:r>
            <a:endParaRPr lang="en-US" altLang="ko-KR" dirty="0"/>
          </a:p>
          <a:p>
            <a:pPr lvl="1"/>
            <a:r>
              <a:rPr lang="ko-KR" altLang="en-US" dirty="0"/>
              <a:t>대표모델</a:t>
            </a:r>
            <a:r>
              <a:rPr lang="en-US" altLang="ko-KR" dirty="0"/>
              <a:t>: Qwen 3.5 , DeepSeek-OCR</a:t>
            </a:r>
            <a:r>
              <a:rPr lang="ko-KR" altLang="en-US" dirty="0"/>
              <a:t> 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PaddleOCR</a:t>
            </a:r>
            <a:r>
              <a:rPr lang="en-US" altLang="ko-KR" dirty="0"/>
              <a:t>-VL,</a:t>
            </a:r>
            <a:r>
              <a:rPr lang="ko-KR" altLang="en-US" dirty="0"/>
              <a:t> </a:t>
            </a:r>
            <a:r>
              <a:rPr lang="en-US" altLang="ko-KR" dirty="0"/>
              <a:t>Chandra OCR </a:t>
            </a:r>
            <a:r>
              <a:rPr lang="ko-KR" altLang="en-US" dirty="0"/>
              <a:t>등</a:t>
            </a:r>
            <a:endParaRPr lang="en-US" altLang="ko-KR" dirty="0"/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52162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F6F82-C97A-D51F-A051-74B3001AD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모델</a:t>
            </a:r>
            <a:r>
              <a:rPr lang="en-US" altLang="ko-KR" dirty="0"/>
              <a:t>: OCR </a:t>
            </a:r>
            <a:r>
              <a:rPr lang="ko-KR" altLang="en-US" dirty="0"/>
              <a:t>모델 벤치마크 자료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411A227-34B4-0E13-0462-52FEA06C2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261" y="1241635"/>
            <a:ext cx="5112197" cy="354603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D687F3-54DF-DFE4-0C98-4C70FC9D1412}"/>
              </a:ext>
            </a:extLst>
          </p:cNvPr>
          <p:cNvSpPr txBox="1"/>
          <p:nvPr/>
        </p:nvSpPr>
        <p:spPr>
          <a:xfrm>
            <a:off x="3632002" y="4824961"/>
            <a:ext cx="5476714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err="1"/>
              <a:t>DataLab</a:t>
            </a:r>
            <a:r>
              <a:rPr lang="ko-KR" altLang="en-US" sz="900" dirty="0"/>
              <a:t>에서 공개한 </a:t>
            </a:r>
            <a:r>
              <a:rPr lang="en-US" altLang="ko-KR" sz="900" dirty="0" err="1"/>
              <a:t>olmOCR</a:t>
            </a:r>
            <a:r>
              <a:rPr lang="en-US" altLang="ko-KR" sz="900" dirty="0"/>
              <a:t> </a:t>
            </a:r>
            <a:r>
              <a:rPr lang="ko-KR" altLang="en-US" sz="900" dirty="0"/>
              <a:t>벤치마크 표 </a:t>
            </a:r>
            <a:r>
              <a:rPr lang="en-US" altLang="ko-KR" sz="900" dirty="0"/>
              <a:t>(2026.01)</a:t>
            </a:r>
            <a:endParaRPr lang="ko-KR" alt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C62EA2-044E-3AA1-13FF-2E7743DF8224}"/>
              </a:ext>
            </a:extLst>
          </p:cNvPr>
          <p:cNvSpPr txBox="1"/>
          <p:nvPr/>
        </p:nvSpPr>
        <p:spPr>
          <a:xfrm>
            <a:off x="168966" y="1349578"/>
            <a:ext cx="3463036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500" b="1" dirty="0" err="1"/>
              <a:t>olmOCR</a:t>
            </a:r>
            <a:r>
              <a:rPr lang="en-US" altLang="ko-KR" sz="1500" b="1" dirty="0"/>
              <a:t> Benchmark</a:t>
            </a:r>
          </a:p>
          <a:p>
            <a:pPr marL="171450" indent="-171450">
              <a:buFontTx/>
              <a:buChar char="-"/>
            </a:pPr>
            <a:r>
              <a:rPr lang="ko-KR" altLang="en-US" sz="1500" dirty="0"/>
              <a:t>단순히 텍스트를 얼마나 잘 읽어내는지 </a:t>
            </a:r>
            <a:r>
              <a:rPr lang="ko-KR" altLang="en-US" sz="1500" dirty="0" err="1"/>
              <a:t>에</a:t>
            </a:r>
            <a:r>
              <a:rPr lang="ko-KR" altLang="en-US" sz="1500" dirty="0"/>
              <a:t> 더해서 </a:t>
            </a:r>
            <a:endParaRPr lang="en-US" altLang="ko-KR" sz="1500" dirty="0"/>
          </a:p>
          <a:p>
            <a:pPr marL="171450" indent="-171450">
              <a:buFontTx/>
              <a:buChar char="-"/>
            </a:pPr>
            <a:r>
              <a:rPr lang="en-US" altLang="ko-KR" sz="1500" dirty="0"/>
              <a:t>AI</a:t>
            </a:r>
            <a:r>
              <a:rPr lang="ko-KR" altLang="en-US" sz="1500" dirty="0"/>
              <a:t>가 문서의 구조와 내용을 얼마나 정확하게 디지털 데이터</a:t>
            </a:r>
            <a:r>
              <a:rPr lang="en-US" altLang="ko-KR" sz="1500" dirty="0"/>
              <a:t>(Markdown </a:t>
            </a:r>
            <a:r>
              <a:rPr lang="ko-KR" altLang="en-US" sz="1500" dirty="0"/>
              <a:t>등</a:t>
            </a:r>
            <a:r>
              <a:rPr lang="en-US" altLang="ko-KR" sz="1500" dirty="0"/>
              <a:t>)</a:t>
            </a:r>
            <a:r>
              <a:rPr lang="ko-KR" altLang="en-US" sz="1500" dirty="0"/>
              <a:t>로 변환하는지를 측정하는 지표</a:t>
            </a:r>
          </a:p>
        </p:txBody>
      </p:sp>
    </p:spTree>
    <p:extLst>
      <p:ext uri="{BB962C8B-B14F-4D97-AF65-F5344CB8AC3E}">
        <p14:creationId xmlns:p14="http://schemas.microsoft.com/office/powerpoint/2010/main" val="1506487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8F4D96-9192-6208-DC89-199199BD8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모델</a:t>
            </a:r>
            <a:r>
              <a:rPr lang="en-US" altLang="ko-KR" dirty="0"/>
              <a:t>: </a:t>
            </a:r>
            <a:r>
              <a:rPr lang="ko-KR" altLang="en-US" dirty="0"/>
              <a:t>순수 </a:t>
            </a:r>
            <a:r>
              <a:rPr lang="en-US" altLang="ko-KR" dirty="0"/>
              <a:t>OCR </a:t>
            </a:r>
            <a:r>
              <a:rPr lang="ko-KR" altLang="en-US" dirty="0"/>
              <a:t>옵션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6ED280-2D71-F67E-9B09-D42AE93AC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만약 </a:t>
            </a:r>
            <a:r>
              <a:rPr lang="en-US" altLang="ko-KR" dirty="0"/>
              <a:t>Native Multimodal model</a:t>
            </a:r>
            <a:r>
              <a:rPr lang="ko-KR" altLang="en-US" dirty="0"/>
              <a:t>을 사용하지 않고</a:t>
            </a:r>
            <a:r>
              <a:rPr lang="en-US" altLang="ko-KR" dirty="0"/>
              <a:t>, LayoutLMv1</a:t>
            </a:r>
            <a:r>
              <a:rPr lang="ko-KR" altLang="en-US" dirty="0"/>
              <a:t>을 사용한다면</a:t>
            </a:r>
            <a:r>
              <a:rPr lang="en-US" altLang="ko-KR" dirty="0"/>
              <a:t>, </a:t>
            </a:r>
            <a:r>
              <a:rPr lang="ko-KR" altLang="en-US" dirty="0"/>
              <a:t>그 </a:t>
            </a:r>
            <a:r>
              <a:rPr lang="ko-KR" altLang="en-US" dirty="0" err="1"/>
              <a:t>앞단에</a:t>
            </a:r>
            <a:r>
              <a:rPr lang="ko-KR" altLang="en-US" dirty="0"/>
              <a:t> 순수 </a:t>
            </a:r>
            <a:r>
              <a:rPr lang="en-US" altLang="ko-KR" dirty="0"/>
              <a:t>OCR </a:t>
            </a:r>
            <a:r>
              <a:rPr lang="ko-KR" altLang="en-US" dirty="0"/>
              <a:t>엔진이 붙어야 할 것</a:t>
            </a:r>
            <a:endParaRPr lang="en-US" altLang="ko-KR" dirty="0"/>
          </a:p>
          <a:p>
            <a:pPr lvl="1"/>
            <a:r>
              <a:rPr lang="en-US" altLang="ko-KR" dirty="0" err="1"/>
              <a:t>PaddleOCR</a:t>
            </a:r>
            <a:r>
              <a:rPr lang="en-US" altLang="ko-KR" dirty="0"/>
              <a:t> v4</a:t>
            </a:r>
          </a:p>
          <a:p>
            <a:pPr lvl="1"/>
            <a:r>
              <a:rPr lang="en-US" altLang="ko-KR" dirty="0"/>
              <a:t>Surya OCR</a:t>
            </a:r>
          </a:p>
          <a:p>
            <a:pPr lvl="1"/>
            <a:r>
              <a:rPr lang="en-US" altLang="ko-KR" dirty="0"/>
              <a:t>Tesseract v5</a:t>
            </a:r>
          </a:p>
          <a:p>
            <a:pPr lvl="1"/>
            <a:r>
              <a:rPr lang="en-US" altLang="ko-KR" dirty="0" err="1"/>
              <a:t>EasyOCR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7079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12433-F6E2-2F9F-50C5-A9A091E14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C35AED-AC9B-06AE-77E0-917A88A15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모델</a:t>
            </a:r>
            <a:r>
              <a:rPr lang="en-US" altLang="ko-KR" dirty="0"/>
              <a:t>: </a:t>
            </a:r>
            <a:r>
              <a:rPr lang="ko-KR" altLang="en-US" dirty="0"/>
              <a:t>파이프라인 결정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5974E7-8C0F-A8B3-11D9-24FB8A56F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안</a:t>
            </a:r>
            <a:r>
              <a:rPr lang="en-US" altLang="ko-KR" dirty="0"/>
              <a:t>) Native Multimodal model</a:t>
            </a:r>
          </a:p>
          <a:p>
            <a:pPr lvl="1"/>
            <a:r>
              <a:rPr lang="en-US" altLang="ko-KR" dirty="0"/>
              <a:t>Ex) PaddleOCR-VL-1.5, QWEN 2.5, Chandra,</a:t>
            </a:r>
            <a:r>
              <a:rPr lang="ko-KR" altLang="en-US" dirty="0"/>
              <a:t> </a:t>
            </a:r>
            <a:r>
              <a:rPr lang="en-US" altLang="ko-KR" dirty="0"/>
              <a:t>Naver Donut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안</a:t>
            </a:r>
            <a:r>
              <a:rPr lang="en-US" altLang="ko-KR" dirty="0"/>
              <a:t>) OCR + LayoutLMv1</a:t>
            </a:r>
          </a:p>
          <a:p>
            <a:pPr lvl="1"/>
            <a:r>
              <a:rPr lang="ko-KR" altLang="en-US" dirty="0"/>
              <a:t>이때 </a:t>
            </a:r>
            <a:r>
              <a:rPr lang="en-US" altLang="ko-KR" dirty="0"/>
              <a:t>OCR</a:t>
            </a:r>
            <a:r>
              <a:rPr lang="ko-KR" altLang="en-US" dirty="0"/>
              <a:t>엔진의 옵션은</a:t>
            </a:r>
            <a:r>
              <a:rPr lang="en-US" altLang="ko-KR" dirty="0"/>
              <a:t>..</a:t>
            </a:r>
          </a:p>
          <a:p>
            <a:pPr lvl="2"/>
            <a:r>
              <a:rPr lang="en-US" altLang="ko-KR" dirty="0"/>
              <a:t>EX) </a:t>
            </a:r>
            <a:r>
              <a:rPr lang="en-US" altLang="ko-KR" dirty="0" err="1"/>
              <a:t>PaddleOCR</a:t>
            </a:r>
            <a:r>
              <a:rPr lang="en-US" altLang="ko-KR" dirty="0"/>
              <a:t> v4, Surya OCR, Tesseract v5, </a:t>
            </a:r>
            <a:r>
              <a:rPr lang="en-US" altLang="ko-KR" dirty="0" err="1"/>
              <a:t>EasyOCR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결정 시 고려사항</a:t>
            </a:r>
            <a:endParaRPr lang="en-US" altLang="ko-KR" dirty="0"/>
          </a:p>
          <a:p>
            <a:pPr lvl="1"/>
            <a:r>
              <a:rPr lang="en-US" altLang="ko-KR" dirty="0"/>
              <a:t>1. </a:t>
            </a:r>
            <a:r>
              <a:rPr lang="ko-KR" altLang="en-US" dirty="0"/>
              <a:t>라이선스 </a:t>
            </a:r>
            <a:r>
              <a:rPr lang="en-US" altLang="ko-KR" dirty="0"/>
              <a:t>(Apache2.0 / MIT)</a:t>
            </a:r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사용 시 필요한 하드웨어 스펙</a:t>
            </a:r>
            <a:r>
              <a:rPr lang="en-US" altLang="ko-KR" dirty="0"/>
              <a:t>(</a:t>
            </a:r>
            <a:r>
              <a:rPr lang="ko-KR" altLang="en-US" dirty="0"/>
              <a:t>학교 서버 </a:t>
            </a:r>
            <a:r>
              <a:rPr lang="en-US" altLang="ko-KR" dirty="0"/>
              <a:t>A6000</a:t>
            </a:r>
            <a:r>
              <a:rPr lang="ko-KR" altLang="en-US" dirty="0"/>
              <a:t>은 </a:t>
            </a:r>
            <a:r>
              <a:rPr lang="ko-KR" altLang="en-US" dirty="0" err="1"/>
              <a:t>예약제이며</a:t>
            </a:r>
            <a:r>
              <a:rPr lang="en-US" altLang="ko-KR" dirty="0"/>
              <a:t>, </a:t>
            </a:r>
            <a:r>
              <a:rPr lang="ko-KR" altLang="en-US" dirty="0"/>
              <a:t>최대 연속 </a:t>
            </a:r>
            <a:r>
              <a:rPr lang="en-US" altLang="ko-KR" dirty="0"/>
              <a:t>3</a:t>
            </a:r>
            <a:r>
              <a:rPr lang="ko-KR" altLang="en-US" dirty="0"/>
              <a:t>일이라 제약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3. </a:t>
            </a:r>
            <a:r>
              <a:rPr lang="ko-KR" altLang="en-US" dirty="0"/>
              <a:t>성능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5191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419BDB-478B-78E2-6374-95CAC1066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API </a:t>
            </a:r>
            <a:r>
              <a:rPr lang="ko-KR" altLang="en-US" dirty="0"/>
              <a:t>설계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519DAF-7F49-8505-65AB-248A55A39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https://documentaidocs-production.up.railway.app/</a:t>
            </a:r>
            <a:endParaRPr lang="en-US" altLang="ko-KR" dirty="0"/>
          </a:p>
          <a:p>
            <a:r>
              <a:rPr lang="ko-KR" altLang="en-US" dirty="0"/>
              <a:t>추가</a:t>
            </a:r>
            <a:r>
              <a:rPr lang="en-US" altLang="ko-KR" dirty="0"/>
              <a:t>/</a:t>
            </a:r>
            <a:r>
              <a:rPr lang="ko-KR" altLang="en-US" dirty="0"/>
              <a:t>보완 예정</a:t>
            </a:r>
            <a:endParaRPr lang="en-US" altLang="ko-KR" dirty="0"/>
          </a:p>
          <a:p>
            <a:r>
              <a:rPr lang="ko-KR" altLang="en-US" dirty="0"/>
              <a:t>공식문서 용도로 활용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47091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차주 상세 계획</a:t>
            </a:r>
            <a:endParaRPr dirty="0"/>
          </a:p>
        </p:txBody>
      </p:sp>
      <p:sp>
        <p:nvSpPr>
          <p:cNvPr id="170" name="Google Shape;170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altLang="ko" dirty="0"/>
              <a:t>4</a:t>
            </a:r>
            <a:r>
              <a:rPr lang="ko" dirty="0"/>
              <a:t>월 </a:t>
            </a:r>
            <a:r>
              <a:rPr lang="en-US" altLang="ko" dirty="0"/>
              <a:t>1</a:t>
            </a:r>
            <a:r>
              <a:rPr lang="ko" dirty="0"/>
              <a:t>주차</a:t>
            </a:r>
            <a:endParaRPr lang="ko" altLang="en-US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 altLang="en-US" dirty="0"/>
              <a:t>모델 파이프라인 결정 및 모델 서빙 환경 구축</a:t>
            </a:r>
            <a:r>
              <a:rPr lang="en-US" altLang="ko-KR" dirty="0"/>
              <a:t>(</a:t>
            </a:r>
            <a:r>
              <a:rPr lang="ko-KR" altLang="en-US" dirty="0"/>
              <a:t>로컬 </a:t>
            </a:r>
            <a:r>
              <a:rPr lang="ko-KR" altLang="en-US" dirty="0" err="1"/>
              <a:t>개발계</a:t>
            </a:r>
            <a:r>
              <a:rPr lang="en-US" altLang="ko-KR" dirty="0"/>
              <a:t>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altLang="ko-KR" dirty="0"/>
              <a:t>API </a:t>
            </a:r>
            <a:r>
              <a:rPr lang="ko-KR" altLang="en-US" dirty="0"/>
              <a:t>구현 및 단위 테스트 </a:t>
            </a:r>
            <a:r>
              <a:rPr lang="en-US" altLang="ko-KR" dirty="0"/>
              <a:t>(1</a:t>
            </a:r>
            <a:r>
              <a:rPr lang="ko-KR" altLang="en-US" dirty="0"/>
              <a:t>차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산출물</a:t>
            </a:r>
            <a:r>
              <a:rPr lang="en-US" altLang="ko-KR" dirty="0"/>
              <a:t>: </a:t>
            </a:r>
            <a:r>
              <a:rPr lang="en-US" altLang="ko-KR" dirty="0" err="1"/>
              <a:t>FastAPI</a:t>
            </a:r>
            <a:r>
              <a:rPr lang="en-US" altLang="ko-KR" dirty="0"/>
              <a:t> docs </a:t>
            </a:r>
            <a:r>
              <a:rPr lang="ko-KR" altLang="en-US" dirty="0"/>
              <a:t>및 테스트 결과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질의 및 자문</a:t>
            </a:r>
            <a:endParaRPr/>
          </a:p>
        </p:txBody>
      </p:sp>
      <p:sp>
        <p:nvSpPr>
          <p:cNvPr id="176" name="Google Shape;176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끝</a:t>
            </a:r>
            <a:endParaRPr/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감사합니다.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679</Words>
  <Application>Microsoft Office PowerPoint</Application>
  <PresentationFormat>화면 슬라이드 쇼(16:9)</PresentationFormat>
  <Paragraphs>111</Paragraphs>
  <Slides>15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7" baseType="lpstr">
      <vt:lpstr>Arial</vt:lpstr>
      <vt:lpstr>Simple Light</vt:lpstr>
      <vt:lpstr>260325</vt:lpstr>
      <vt:lpstr>지난 발표 주요 내용 정리</vt:lpstr>
      <vt:lpstr>오늘 발표 주요 내용</vt:lpstr>
      <vt:lpstr>폰트-OCR 특화 폰트</vt:lpstr>
      <vt:lpstr>폰트-OCR 특화 폰트</vt:lpstr>
      <vt:lpstr>폰트-OCR 인식이 잘 되는 폰트</vt:lpstr>
      <vt:lpstr>폰트-OCR 인식이 잘 되는 한글 폰트</vt:lpstr>
      <vt:lpstr>모델: 추가 리서치</vt:lpstr>
      <vt:lpstr>모델: OCR 모델 벤치마크 자료 </vt:lpstr>
      <vt:lpstr>모델: 순수 OCR 옵션</vt:lpstr>
      <vt:lpstr>모델: 파이프라인 결정</vt:lpstr>
      <vt:lpstr>API 설계</vt:lpstr>
      <vt:lpstr>차주 상세 계획</vt:lpstr>
      <vt:lpstr>질의 및 자문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웅희 이</cp:lastModifiedBy>
  <cp:revision>27</cp:revision>
  <dcterms:modified xsi:type="dcterms:W3CDTF">2026-03-25T10:01:24Z</dcterms:modified>
</cp:coreProperties>
</file>