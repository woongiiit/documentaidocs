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792cc2d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792cc2d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92cc2d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92cc2d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0792cc2d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0792cc2d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0792cc2d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0792cc2d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0792cc2d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0792cc2d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0792cc2d5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0792cc2d5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0792cc2d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0792cc2d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0792cc2d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0792cc2d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0792cc2d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0792cc2d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0792cc2d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0792cc2d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0792cc2d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0792cc2d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0792cc2d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0792cc2d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0792cc2d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0792cc2d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0792cc2d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0792cc2d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0792cc2d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0792cc2d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0792cc2d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0792cc2d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0792cc2d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0792cc2d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0792cc2d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0792cc2d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0792cc2d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0792cc2d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0792cc2d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0792cc2d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0792cc2d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0792cc2d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easy-lyric-617.notion.site/32589900978180dea2aaebe153afa6bc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260319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정준호 교수님 개별연구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2020112008 이웅희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주제: </a:t>
            </a:r>
            <a:r>
              <a:rPr lang="ko"/>
              <a:t>특정 사무프로세스 자동화를 위한 주요모듈 및 UI/UX개선연구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지난 발표 주요 내용 정리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자동화 대상: 교내 각종 행정 프로세스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ko"/>
              <a:t>ex. 선이수 인정 신청서, 타대학 이수 인정 신청서, 종합설계 대체 인정 등등 다양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각 프로세스에서 요구하는 문서의 양식과 Rule이 다름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ko"/>
              <a:t>목표: 코드레벨이 아니라, UI레벨에서 업무담당자(비개발자)가 수정 및 업무자동화 가능토록 하자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주제범위 정의,시퀸스,Use case, 개념설계가 필요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오늘 발표 주요 내용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Use Case Diagram </a:t>
            </a:r>
            <a:r>
              <a:rPr lang="ko"/>
              <a:t>소개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[교내 행정 프로세스] 사례 분석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관련 선행연구 분석 및 적용 방안 검토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Use Case Diagram</a:t>
            </a:r>
            <a:endParaRPr/>
          </a:p>
        </p:txBody>
      </p:sp>
      <p:pic>
        <p:nvPicPr>
          <p:cNvPr id="73" name="Google Shape;73;p16" title="제목 없는 다이어그램.drawio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550" y="1245340"/>
            <a:ext cx="7728900" cy="33171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Use Case Diagram</a:t>
            </a:r>
            <a:endParaRPr/>
          </a:p>
        </p:txBody>
      </p:sp>
      <p:pic>
        <p:nvPicPr>
          <p:cNvPr id="79" name="Google Shape;79;p17" title="제목 없는 다이어그램.drawio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550" y="1245340"/>
            <a:ext cx="7728900" cy="33171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" name="Google Shape;80;p17"/>
          <p:cNvSpPr txBox="1"/>
          <p:nvPr/>
        </p:nvSpPr>
        <p:spPr>
          <a:xfrm>
            <a:off x="707550" y="4694550"/>
            <a:ext cx="801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Issue: 사용자마다 워크플로우가 다를 것이고, 그걸 저장하고 불러와 사용하기 위해서 계정 시스템 도입 검토가 필요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</a:t>
            </a:r>
            <a:r>
              <a:rPr lang="ko"/>
              <a:t>교내 행정 프로세스] 사례 분석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분석방법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컴퓨터·AI 학부의 최근 공지사항 중 서류 제출이 요구되는 케이스를 대상으로 분석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제출 서류의 종류와 각 서류의 내용(양식)이 어떻게 되는가?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내용 평가 여부(교수님의 심사 등)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 u="sng">
                <a:solidFill>
                  <a:schemeClr val="hlink"/>
                </a:solidFill>
                <a:hlinkClick r:id="rId3"/>
              </a:rPr>
              <a:t>https://easy-lyric-617.notion.site/32589900978180dea2aaebe153afa6bc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[교내 행정 프로세스] 사례 분석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결론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결과보고서 와 같이 교수님의 평가,심사가 포함되는 프로세스에는 서비스 개입 여지를 두지 않는다.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명확한 포맷(레이아웃)이 있고, 기입되는 값에 따라 승인여부가 바뀌는 프로세스에 한하여 개발한다.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관련 선행연구 분석 및 적용 방안 검토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3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Reference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/>
              <a:t>[모델/알고리즘]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[1] Y. Xu et al., "LayoutLM: Pre-training of text and layout for document image understanding," in </a:t>
            </a:r>
            <a:r>
              <a:rPr i="1" lang="ko" sz="1100">
                <a:solidFill>
                  <a:schemeClr val="dk1"/>
                </a:solidFill>
              </a:rPr>
              <a:t>Proc. 26th ACM SIGKDD Int. Conf. Knowl. Discovery &amp; Data Mining</a:t>
            </a:r>
            <a:r>
              <a:rPr lang="ko" sz="1100">
                <a:solidFill>
                  <a:schemeClr val="dk1"/>
                </a:solidFill>
              </a:rPr>
              <a:t>, 2020, pp. 1192–1200.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[2] G. Kim et al., "OCR-free document understanding transformer," in </a:t>
            </a:r>
            <a:r>
              <a:rPr i="1" lang="ko" sz="1100">
                <a:solidFill>
                  <a:schemeClr val="dk1"/>
                </a:solidFill>
              </a:rPr>
              <a:t>Eur. Conf. Comput. Vis.</a:t>
            </a:r>
            <a:r>
              <a:rPr lang="ko" sz="1100">
                <a:solidFill>
                  <a:schemeClr val="dk1"/>
                </a:solidFill>
              </a:rPr>
              <a:t>, 2022, pp. 498–517.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/>
              <a:t>[사용자 인터페이스]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[3] Y. Li, H. Wang, R. Thulasiram, and Y. Zhou, "Synthesizing extraction rules from user examples with SEER," in </a:t>
            </a:r>
            <a:r>
              <a:rPr i="1" lang="ko" sz="1100">
                <a:solidFill>
                  <a:schemeClr val="dk1"/>
                </a:solidFill>
              </a:rPr>
              <a:t>Proc. 2017 ACM SIGMOD Int. Conf. Manage. Data</a:t>
            </a:r>
            <a:r>
              <a:rPr lang="ko" sz="1100">
                <a:solidFill>
                  <a:schemeClr val="dk1"/>
                </a:solidFill>
              </a:rPr>
              <a:t>, 2017, pp. 1655–1658.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[4] J. Chen et al., "BGE M3-Embedding: Multi-Lingual, Multi-Function, Multi-Granularity Text Retrieval," </a:t>
            </a:r>
            <a:r>
              <a:rPr i="1" lang="ko" sz="1100">
                <a:solidFill>
                  <a:schemeClr val="dk1"/>
                </a:solidFill>
              </a:rPr>
              <a:t>arXiv preprint arXiv:2402.03216</a:t>
            </a:r>
            <a:r>
              <a:rPr lang="ko" sz="1100">
                <a:solidFill>
                  <a:schemeClr val="dk1"/>
                </a:solidFill>
              </a:rPr>
              <a:t>, 2024.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관련 선행연구 분석 및 적용 방안 검토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[1] Y. Xu et al., "LayoutLM: Pre-training of text and layout for document image understanding," in </a:t>
            </a:r>
            <a:r>
              <a:rPr i="1" lang="ko" sz="1100">
                <a:solidFill>
                  <a:schemeClr val="dk1"/>
                </a:solidFill>
              </a:rPr>
              <a:t>Proc. 26th ACM SIGKDD Int. Conf. Knowl. Discovery &amp; Data Mining</a:t>
            </a:r>
            <a:r>
              <a:rPr lang="ko" sz="1100">
                <a:solidFill>
                  <a:schemeClr val="dk1"/>
                </a:solidFill>
              </a:rPr>
              <a:t>, 2020, pp. 1192–1200.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요약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2차원 데이터(text, layout, image)를 Pre-training한 멀티 모달 모델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영수증, 성적표 등 구조화된 문서의 정보를 추출하는데 특화된 모델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적용방안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OCR모델이 앞단에서 이미지로부터 텍스트와 좌표값(Bounding Box)까지 추출해주는 과정이 필요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Trade-off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ko" sz="1100">
                <a:solidFill>
                  <a:schemeClr val="dk1"/>
                </a:solidFill>
              </a:rPr>
              <a:t> 정보 추출 정확도가 올라가겠지만, OCR 엔진의 성능이 좋아야 의미가 있다.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ko" sz="1100">
                <a:solidFill>
                  <a:schemeClr val="dk1"/>
                </a:solidFill>
              </a:rPr>
              <a:t>OCR 엔진을 거치다 보니 소요 시간이 늘어난다.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ko" sz="1100">
                <a:solidFill>
                  <a:schemeClr val="dk1"/>
                </a:solidFill>
              </a:rPr>
              <a:t>문서 상 존재하는 데이터의 위치 정보를 고려한다.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라이센스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ko" sz="1100">
                <a:solidFill>
                  <a:schemeClr val="dk1"/>
                </a:solidFill>
              </a:rPr>
              <a:t>LayoutLMv1: MIT License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ko" sz="1100">
                <a:solidFill>
                  <a:schemeClr val="dk1"/>
                </a:solidFill>
              </a:rPr>
              <a:t>LayoutLMv2 / v3: CC BY-NC-SA 4.0 (비영리 목적으로 사용 가능, 상업적 이용 불가)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관련 선행연구 분석 및 적용 방안 검토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[2] G. Kim et al., "OCR-free document understanding transformer," in </a:t>
            </a:r>
            <a:r>
              <a:rPr i="1" lang="ko" sz="1100">
                <a:solidFill>
                  <a:schemeClr val="dk1"/>
                </a:solidFill>
              </a:rPr>
              <a:t>Eur. Conf. Comput. Vis.</a:t>
            </a:r>
            <a:r>
              <a:rPr lang="ko" sz="1100">
                <a:solidFill>
                  <a:schemeClr val="dk1"/>
                </a:solidFill>
              </a:rPr>
              <a:t>, 2022, pp. 498–517.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요약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OCR 엔진을 별도로 쓰지 않고 입력된 이미지로부터 JSON 형태의 텍스트를 생성하는 모델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네이버에서 개발해서 한국어에 강함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적용방안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Trade-off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ko" sz="1100">
                <a:solidFill>
                  <a:schemeClr val="dk1"/>
                </a:solidFill>
              </a:rPr>
              <a:t>OCR 엔진이 없어서, 가볍고 빠르다.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ko" sz="1100">
                <a:solidFill>
                  <a:schemeClr val="dk1"/>
                </a:solidFill>
              </a:rPr>
              <a:t>작은 글씨나 저해상도 문서에서 OCR 기반 모델보다 정확도가 떨어질 수 있다.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ko" sz="1100">
                <a:solidFill>
                  <a:schemeClr val="dk1"/>
                </a:solidFill>
              </a:rPr>
              <a:t>텍스트의 위치 정보까지는 고려될 수 없다.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라이센스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ko" sz="1100">
                <a:solidFill>
                  <a:schemeClr val="dk1"/>
                </a:solidFill>
              </a:rPr>
              <a:t>MIT License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관련 선행연구 분석 및 적용 방안 검토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[3] Y. Li, H. Wang, R. Thulasiram, and Y. Zhou, "Synthesizing extraction rules from user examples with SEER," in </a:t>
            </a:r>
            <a:r>
              <a:rPr i="1" lang="ko" sz="1100">
                <a:solidFill>
                  <a:schemeClr val="dk1"/>
                </a:solidFill>
              </a:rPr>
              <a:t>Proc. 2017 ACM SIGMOD Int. Conf. Manage. Data</a:t>
            </a:r>
            <a:r>
              <a:rPr lang="ko" sz="1100">
                <a:solidFill>
                  <a:schemeClr val="dk1"/>
                </a:solidFill>
              </a:rPr>
              <a:t>, 2017, pp. 1655–1658.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요약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사용자 예시 기반으로 데이터 추출 규칙을 자동 생성하는 인터페이스 제안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비전문가가 복잡한 정규식이나 코드 없이 정보 추출 시스템을 제어할 수 있는 메커니즘 증명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시사점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비개발자 주도의 자동화를 위한 인터페이스 설계의 토대 제공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사용자 피드백을 통한 추출 규칙의 동적 수정 프로세스를 참고 가능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비정형 텍스트 위주의 연구라서, 레이아웃 중심 환경에 맞게 적용을 달리할 필요가 있다.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ko"/>
              <a:t>관련 선행연구 분석 및 적용 방안 검토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6800" y="1100925"/>
            <a:ext cx="4930399" cy="3820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관련 선행연구 분석 및 적용 방안 검토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[4] J. Chen et al., "BGE M3-Embedding: Multi-Lingual, Multi-Function, Multi-Granularity Text Retrieval," </a:t>
            </a:r>
            <a:r>
              <a:rPr i="1" lang="ko" sz="1100">
                <a:solidFill>
                  <a:schemeClr val="dk1"/>
                </a:solidFill>
              </a:rPr>
              <a:t>arXiv preprint arXiv:2402.03216</a:t>
            </a:r>
            <a:r>
              <a:rPr lang="ko" sz="1100">
                <a:solidFill>
                  <a:schemeClr val="dk1"/>
                </a:solidFill>
              </a:rPr>
              <a:t>, 2024.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요약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장문 Context 처리에 특화된 최신 텍스트 임베딩 모델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의미론적 유사도 기반의 정보 검색 성능이 뛰어남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시사점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서로 다른 문서의 데이터 간의 지능적 연결이 가능한 경우 도입 고려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ko"/>
              <a:t>관련 선행연구 분석 및 적용 방안 검토</a:t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152475"/>
            <a:ext cx="8520600" cy="33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/>
              <a:t>[</a:t>
            </a:r>
            <a:r>
              <a:rPr lang="ko" sz="1500"/>
              <a:t>동일 주제 개별연구]</a:t>
            </a:r>
            <a:endParaRPr sz="15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2024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수학과 이지민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졸업이수 체계도를 DB화(MySQL)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Selenium 모듈을 사용하여 동적 크롤링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입학연도와 이수과정을 선택하면 체계도를 볼 수 있음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성적 엑셀 파일 업로드 시, 졸업가능여부 판단결과 모달을 띄우는 방식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관련 선행연구 분석 및 적용 방안 검토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11700" y="1152475"/>
            <a:ext cx="8520600" cy="33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/>
              <a:t>[동일 주제 개별연구]</a:t>
            </a:r>
            <a:endParaRPr sz="15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2024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컴퓨터공학전공 황재형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관리자와 사용자를 분리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mdrims에서 다운로드한 종합 강의 시간표 엑셀 파일을 올려서 시스템에 입력 가능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2020년 입학생 기준으로 졸업 여부 판정 가능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이수체계도 상 하나의 교과목에 포함되는 여러 강의를 해당 교과목으로 그룹화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성적 엑셀 파일 업로드 시, 졸업가능여부 판단결과 및 부족한 내용을 표시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관련 선행연구 분석 및 적용 방안 검토</a:t>
            </a:r>
            <a:endParaRPr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1152475"/>
            <a:ext cx="8520600" cy="33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/>
              <a:t>[동일 주제 개별연구]</a:t>
            </a:r>
            <a:endParaRPr sz="15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2025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컴퓨터공학전공 송민하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의류 사입(도매로 들여오는것) 내역 증빙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영수증 OCR 기반 내역 정리 자동화 서비스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사입 내역 CRUD, 페이지네이션, 통계 기능 구현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향후 주차별 계획</a:t>
            </a:r>
            <a:endParaRPr/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3월 4주차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개념 설계 수정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DB 설계 (산출물: ERD)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4</a:t>
            </a:r>
            <a:r>
              <a:rPr lang="ko" sz="1800"/>
              <a:t>월 </a:t>
            </a:r>
            <a:r>
              <a:rPr lang="ko"/>
              <a:t>1</a:t>
            </a:r>
            <a:r>
              <a:rPr lang="ko" sz="1800"/>
              <a:t>주차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DB 설계 수정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UI목업 구현 (산출물: PoC가능한 목업UI)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4월 2주차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UI목업 수정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프론트엔드 개발(1)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4월 3주차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프론트엔드 개발(2) (산출물: 최종 UI)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향후 주차별 계획</a:t>
            </a:r>
            <a:endParaRPr/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4월 4주차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비즈니스 로직(백엔드) 개발(1)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5</a:t>
            </a:r>
            <a:r>
              <a:rPr lang="ko" sz="1800"/>
              <a:t>월 </a:t>
            </a:r>
            <a:r>
              <a:rPr lang="ko"/>
              <a:t>1</a:t>
            </a:r>
            <a:r>
              <a:rPr lang="ko" sz="1800"/>
              <a:t>주차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비즈니스 로직(백엔드) 개발(2) (산출물: 비즈니스 로직이 포함된 웹 어플리케이션)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5월 2주차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개발계 기능 테스트 (산출물: Test Case Sheets)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배포 준비(패키징)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5월 3주차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배포 (산출물: 서비스 URL)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운영계 동작 확인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향후 주차별 계획</a:t>
            </a:r>
            <a:endParaRPr/>
          </a:p>
        </p:txBody>
      </p:sp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5월 4주차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최종 산출물(제출용) 정리 및 결과보고서 작성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6</a:t>
            </a:r>
            <a:r>
              <a:rPr lang="ko" sz="1800"/>
              <a:t>월 </a:t>
            </a:r>
            <a:r>
              <a:rPr lang="ko"/>
              <a:t>1</a:t>
            </a:r>
            <a:r>
              <a:rPr lang="ko" sz="1800"/>
              <a:t>주차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최종 산출물(제출용) 정리 및 결과보고서 수정 및 제출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6월 2주차(15</a:t>
            </a:r>
            <a:r>
              <a:rPr lang="ko"/>
              <a:t>일 종강)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Buffer Week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차주 상세 계획</a:t>
            </a:r>
            <a:endParaRPr/>
          </a:p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3월 4주차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개념 설계 수정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Use Case Diagram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DB 설계 (산출물: ERD)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DB 프레임워크 결정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ERD Cloud로 ERD 설계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질의 및 자문</a:t>
            </a:r>
            <a:endParaRPr/>
          </a:p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목업UI 개발 후 서비스의 유효성 검증 절차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주요 업무 프로세스별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ko"/>
              <a:t>받는 서류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ko"/>
              <a:t>각 서류별 확인 사항(조건)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끝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감사합니다.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